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73" r:id="rId1"/>
  </p:sldMasterIdLst>
  <p:notesMasterIdLst>
    <p:notesMasterId r:id="rId24"/>
  </p:notesMasterIdLst>
  <p:sldIdLst>
    <p:sldId id="256" r:id="rId2"/>
    <p:sldId id="258" r:id="rId3"/>
    <p:sldId id="259" r:id="rId4"/>
    <p:sldId id="271" r:id="rId5"/>
    <p:sldId id="260" r:id="rId6"/>
    <p:sldId id="268" r:id="rId7"/>
    <p:sldId id="269" r:id="rId8"/>
    <p:sldId id="266" r:id="rId9"/>
    <p:sldId id="261" r:id="rId10"/>
    <p:sldId id="264" r:id="rId11"/>
    <p:sldId id="286" r:id="rId12"/>
    <p:sldId id="287" r:id="rId13"/>
    <p:sldId id="288" r:id="rId14"/>
    <p:sldId id="296" r:id="rId15"/>
    <p:sldId id="297" r:id="rId16"/>
    <p:sldId id="282" r:id="rId17"/>
    <p:sldId id="298" r:id="rId18"/>
    <p:sldId id="283" r:id="rId19"/>
    <p:sldId id="290" r:id="rId20"/>
    <p:sldId id="267" r:id="rId21"/>
    <p:sldId id="265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1AEC90-B342-47A6-B429-C3C702F52A8F}" type="doc">
      <dgm:prSet loTypeId="urn:microsoft.com/office/officeart/2005/8/layout/chevron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3CB2CC9-F526-49E1-8654-C4272E7636AD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Aquarium hobbyists</a:t>
          </a:r>
        </a:p>
      </dgm:t>
    </dgm:pt>
    <dgm:pt modelId="{D1E57EE1-49EF-4A2B-8507-D2D95D583CCF}" type="parTrans" cxnId="{36306873-65BB-49ED-8B4C-E4CE54779DDA}">
      <dgm:prSet/>
      <dgm:spPr/>
      <dgm:t>
        <a:bodyPr/>
        <a:lstStyle/>
        <a:p>
          <a:endParaRPr lang="en-US"/>
        </a:p>
      </dgm:t>
    </dgm:pt>
    <dgm:pt modelId="{96483FF8-6AA0-4405-AF75-1E9B901AAF6C}" type="sibTrans" cxnId="{36306873-65BB-49ED-8B4C-E4CE54779DDA}">
      <dgm:prSet/>
      <dgm:spPr/>
      <dgm:t>
        <a:bodyPr/>
        <a:lstStyle/>
        <a:p>
          <a:endParaRPr lang="en-US"/>
        </a:p>
      </dgm:t>
    </dgm:pt>
    <dgm:pt modelId="{94F0DF13-A0C7-4739-AB9F-13BE201E2154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Mini Aquarium owners</a:t>
          </a:r>
        </a:p>
      </dgm:t>
    </dgm:pt>
    <dgm:pt modelId="{3E250B02-6221-4F84-BD19-ECA0C16BF00A}" type="parTrans" cxnId="{BCC34293-85F8-4EC9-AC94-83EC069CC470}">
      <dgm:prSet/>
      <dgm:spPr/>
      <dgm:t>
        <a:bodyPr/>
        <a:lstStyle/>
        <a:p>
          <a:endParaRPr lang="en-US"/>
        </a:p>
      </dgm:t>
    </dgm:pt>
    <dgm:pt modelId="{B7A67896-3379-4CAF-846C-53C9B27E1025}" type="sibTrans" cxnId="{BCC34293-85F8-4EC9-AC94-83EC069CC470}">
      <dgm:prSet/>
      <dgm:spPr/>
      <dgm:t>
        <a:bodyPr/>
        <a:lstStyle/>
        <a:p>
          <a:endParaRPr lang="en-US"/>
        </a:p>
      </dgm:t>
    </dgm:pt>
    <dgm:pt modelId="{052CD516-4848-40A3-B9AB-E965CFC764AD}">
      <dgm:prSet phldrT="[Text]"/>
      <dgm:spPr/>
      <dgm:t>
        <a:bodyPr/>
        <a:lstStyle/>
        <a:p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Busy Professionals</a:t>
          </a:r>
        </a:p>
      </dgm:t>
    </dgm:pt>
    <dgm:pt modelId="{4EA107AA-82D0-4C83-88EB-D9D2E8A20A87}" type="parTrans" cxnId="{3F3A069C-6B40-4657-BA45-6BD97CC2B35C}">
      <dgm:prSet/>
      <dgm:spPr/>
      <dgm:t>
        <a:bodyPr/>
        <a:lstStyle/>
        <a:p>
          <a:endParaRPr lang="en-US"/>
        </a:p>
      </dgm:t>
    </dgm:pt>
    <dgm:pt modelId="{52879ACA-AE95-47D6-BE90-6778D4B7E05B}" type="sibTrans" cxnId="{3F3A069C-6B40-4657-BA45-6BD97CC2B35C}">
      <dgm:prSet/>
      <dgm:spPr/>
      <dgm:t>
        <a:bodyPr/>
        <a:lstStyle/>
        <a:p>
          <a:endParaRPr lang="en-US"/>
        </a:p>
      </dgm:t>
    </dgm:pt>
    <dgm:pt modelId="{B40E1846-2A1D-4374-8DB8-7F8479C4E74E}">
      <dgm:prSet phldrT="[Text]"/>
      <dgm:spPr>
        <a:noFill/>
        <a:ln>
          <a:noFill/>
        </a:ln>
      </dgm:spPr>
      <dgm:t>
        <a:bodyPr/>
        <a:lstStyle/>
        <a:p>
          <a:endParaRPr lang="en-US" dirty="0"/>
        </a:p>
      </dgm:t>
    </dgm:pt>
    <dgm:pt modelId="{EE28A52E-2479-440C-AE0A-519C5203DB78}" type="parTrans" cxnId="{5B5EC157-CAC9-4E4D-A2C5-CC6AA2802942}">
      <dgm:prSet/>
      <dgm:spPr/>
      <dgm:t>
        <a:bodyPr/>
        <a:lstStyle/>
        <a:p>
          <a:endParaRPr lang="en-US"/>
        </a:p>
      </dgm:t>
    </dgm:pt>
    <dgm:pt modelId="{B1A4523E-E978-4BB7-AD79-09BB5E5FD6BC}" type="sibTrans" cxnId="{5B5EC157-CAC9-4E4D-A2C5-CC6AA2802942}">
      <dgm:prSet/>
      <dgm:spPr/>
      <dgm:t>
        <a:bodyPr/>
        <a:lstStyle/>
        <a:p>
          <a:endParaRPr lang="en-US"/>
        </a:p>
      </dgm:t>
    </dgm:pt>
    <dgm:pt modelId="{7B126A2C-10E1-4FE2-B447-09ABE7C1D944}" type="pres">
      <dgm:prSet presAssocID="{DB1AEC90-B342-47A6-B429-C3C702F52A8F}" presName="linearFlow" presStyleCnt="0">
        <dgm:presLayoutVars>
          <dgm:dir/>
          <dgm:animLvl val="lvl"/>
          <dgm:resizeHandles val="exact"/>
        </dgm:presLayoutVars>
      </dgm:prSet>
      <dgm:spPr/>
    </dgm:pt>
    <dgm:pt modelId="{D61791DA-74D1-488E-89E6-D027CFD6A7FE}" type="pres">
      <dgm:prSet presAssocID="{93CB2CC9-F526-49E1-8654-C4272E7636AD}" presName="composite" presStyleCnt="0"/>
      <dgm:spPr/>
    </dgm:pt>
    <dgm:pt modelId="{595AD045-4C74-4280-A09D-9E10F597714F}" type="pres">
      <dgm:prSet presAssocID="{93CB2CC9-F526-49E1-8654-C4272E7636AD}" presName="parentText" presStyleLbl="alignNode1" presStyleIdx="0" presStyleCnt="3" custLinFactNeighborX="-5556" custLinFactNeighborY="-931">
        <dgm:presLayoutVars>
          <dgm:chMax val="1"/>
          <dgm:bulletEnabled val="1"/>
        </dgm:presLayoutVars>
      </dgm:prSet>
      <dgm:spPr/>
    </dgm:pt>
    <dgm:pt modelId="{0FF3F3A4-EC7E-4D0F-B45F-71B0A41AFA41}" type="pres">
      <dgm:prSet presAssocID="{93CB2CC9-F526-49E1-8654-C4272E7636AD}" presName="descendantText" presStyleLbl="alignAcc1" presStyleIdx="0" presStyleCnt="3" custLinFactY="44235" custLinFactNeighborY="100000">
        <dgm:presLayoutVars>
          <dgm:bulletEnabled val="1"/>
        </dgm:presLayoutVars>
      </dgm:prSet>
      <dgm:spPr>
        <a:noFill/>
        <a:ln>
          <a:noFill/>
        </a:ln>
      </dgm:spPr>
    </dgm:pt>
    <dgm:pt modelId="{A6304D0E-2578-4968-A89E-2F01DE5C4819}" type="pres">
      <dgm:prSet presAssocID="{96483FF8-6AA0-4405-AF75-1E9B901AAF6C}" presName="sp" presStyleCnt="0"/>
      <dgm:spPr/>
    </dgm:pt>
    <dgm:pt modelId="{68EB323B-C0C2-4D3A-91AC-D63BA58D0620}" type="pres">
      <dgm:prSet presAssocID="{94F0DF13-A0C7-4739-AB9F-13BE201E2154}" presName="composite" presStyleCnt="0"/>
      <dgm:spPr/>
    </dgm:pt>
    <dgm:pt modelId="{62AEBAA5-AA6F-48F9-9538-B4B8C9A61681}" type="pres">
      <dgm:prSet presAssocID="{94F0DF13-A0C7-4739-AB9F-13BE201E2154}" presName="parentText" presStyleLbl="alignNode1" presStyleIdx="1" presStyleCnt="3" custLinFactNeighborX="-2889" custLinFactNeighborY="0">
        <dgm:presLayoutVars>
          <dgm:chMax val="1"/>
          <dgm:bulletEnabled val="1"/>
        </dgm:presLayoutVars>
      </dgm:prSet>
      <dgm:spPr/>
    </dgm:pt>
    <dgm:pt modelId="{F3517B5A-E61E-47A8-B79A-C09B0C19D4BF}" type="pres">
      <dgm:prSet presAssocID="{94F0DF13-A0C7-4739-AB9F-13BE201E2154}" presName="descendantText" presStyleLbl="alignAcc1" presStyleIdx="1" presStyleCnt="3" custLinFactY="-26128" custLinFactNeighborX="-562" custLinFactNeighborY="-100000">
        <dgm:presLayoutVars>
          <dgm:bulletEnabled val="1"/>
        </dgm:presLayoutVars>
      </dgm:prSet>
      <dgm:spPr>
        <a:noFill/>
        <a:ln>
          <a:noFill/>
        </a:ln>
      </dgm:spPr>
    </dgm:pt>
    <dgm:pt modelId="{7802AFCF-CB6A-4384-8112-B1F989A858D2}" type="pres">
      <dgm:prSet presAssocID="{B7A67896-3379-4CAF-846C-53C9B27E1025}" presName="sp" presStyleCnt="0"/>
      <dgm:spPr/>
    </dgm:pt>
    <dgm:pt modelId="{5CAF7E4E-4DE7-4640-9C0D-DAD7E731821A}" type="pres">
      <dgm:prSet presAssocID="{052CD516-4848-40A3-B9AB-E965CFC764AD}" presName="composite" presStyleCnt="0"/>
      <dgm:spPr/>
    </dgm:pt>
    <dgm:pt modelId="{57C6343D-616A-4DAB-B6F4-21F195A2BC45}" type="pres">
      <dgm:prSet presAssocID="{052CD516-4848-40A3-B9AB-E965CFC764AD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87BEBD8E-B5E7-46C6-8D43-7888753C0DEF}" type="pres">
      <dgm:prSet presAssocID="{052CD516-4848-40A3-B9AB-E965CFC764AD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B6AE5D42-A79D-4496-9939-8E802766B416}" type="presOf" srcId="{052CD516-4848-40A3-B9AB-E965CFC764AD}" destId="{57C6343D-616A-4DAB-B6F4-21F195A2BC45}" srcOrd="0" destOrd="0" presId="urn:microsoft.com/office/officeart/2005/8/layout/chevron2"/>
    <dgm:cxn modelId="{36306873-65BB-49ED-8B4C-E4CE54779DDA}" srcId="{DB1AEC90-B342-47A6-B429-C3C702F52A8F}" destId="{93CB2CC9-F526-49E1-8654-C4272E7636AD}" srcOrd="0" destOrd="0" parTransId="{D1E57EE1-49EF-4A2B-8507-D2D95D583CCF}" sibTransId="{96483FF8-6AA0-4405-AF75-1E9B901AAF6C}"/>
    <dgm:cxn modelId="{B6A4E175-FB52-4FF1-B2E8-22FD707A00D1}" type="presOf" srcId="{93CB2CC9-F526-49E1-8654-C4272E7636AD}" destId="{595AD045-4C74-4280-A09D-9E10F597714F}" srcOrd="0" destOrd="0" presId="urn:microsoft.com/office/officeart/2005/8/layout/chevron2"/>
    <dgm:cxn modelId="{5B5EC157-CAC9-4E4D-A2C5-CC6AA2802942}" srcId="{052CD516-4848-40A3-B9AB-E965CFC764AD}" destId="{B40E1846-2A1D-4374-8DB8-7F8479C4E74E}" srcOrd="0" destOrd="0" parTransId="{EE28A52E-2479-440C-AE0A-519C5203DB78}" sibTransId="{B1A4523E-E978-4BB7-AD79-09BB5E5FD6BC}"/>
    <dgm:cxn modelId="{BCC34293-85F8-4EC9-AC94-83EC069CC470}" srcId="{DB1AEC90-B342-47A6-B429-C3C702F52A8F}" destId="{94F0DF13-A0C7-4739-AB9F-13BE201E2154}" srcOrd="1" destOrd="0" parTransId="{3E250B02-6221-4F84-BD19-ECA0C16BF00A}" sibTransId="{B7A67896-3379-4CAF-846C-53C9B27E1025}"/>
    <dgm:cxn modelId="{3F3A069C-6B40-4657-BA45-6BD97CC2B35C}" srcId="{DB1AEC90-B342-47A6-B429-C3C702F52A8F}" destId="{052CD516-4848-40A3-B9AB-E965CFC764AD}" srcOrd="2" destOrd="0" parTransId="{4EA107AA-82D0-4C83-88EB-D9D2E8A20A87}" sibTransId="{52879ACA-AE95-47D6-BE90-6778D4B7E05B}"/>
    <dgm:cxn modelId="{7C2F96D0-AF16-43EE-8ED4-722F75850EED}" type="presOf" srcId="{DB1AEC90-B342-47A6-B429-C3C702F52A8F}" destId="{7B126A2C-10E1-4FE2-B447-09ABE7C1D944}" srcOrd="0" destOrd="0" presId="urn:microsoft.com/office/officeart/2005/8/layout/chevron2"/>
    <dgm:cxn modelId="{349781D4-0868-4782-A97F-4B34FA13EFDE}" type="presOf" srcId="{B40E1846-2A1D-4374-8DB8-7F8479C4E74E}" destId="{87BEBD8E-B5E7-46C6-8D43-7888753C0DEF}" srcOrd="0" destOrd="0" presId="urn:microsoft.com/office/officeart/2005/8/layout/chevron2"/>
    <dgm:cxn modelId="{C681E8ED-EA74-4167-8EDB-EE4D37A925C1}" type="presOf" srcId="{94F0DF13-A0C7-4739-AB9F-13BE201E2154}" destId="{62AEBAA5-AA6F-48F9-9538-B4B8C9A61681}" srcOrd="0" destOrd="0" presId="urn:microsoft.com/office/officeart/2005/8/layout/chevron2"/>
    <dgm:cxn modelId="{E04E0730-66D8-454E-8F81-63365E8EC903}" type="presParOf" srcId="{7B126A2C-10E1-4FE2-B447-09ABE7C1D944}" destId="{D61791DA-74D1-488E-89E6-D027CFD6A7FE}" srcOrd="0" destOrd="0" presId="urn:microsoft.com/office/officeart/2005/8/layout/chevron2"/>
    <dgm:cxn modelId="{83AF595B-F425-4B33-81FD-F9C2B2912C7C}" type="presParOf" srcId="{D61791DA-74D1-488E-89E6-D027CFD6A7FE}" destId="{595AD045-4C74-4280-A09D-9E10F597714F}" srcOrd="0" destOrd="0" presId="urn:microsoft.com/office/officeart/2005/8/layout/chevron2"/>
    <dgm:cxn modelId="{5CA6B0F3-98E0-45AB-92BE-471C3A301137}" type="presParOf" srcId="{D61791DA-74D1-488E-89E6-D027CFD6A7FE}" destId="{0FF3F3A4-EC7E-4D0F-B45F-71B0A41AFA41}" srcOrd="1" destOrd="0" presId="urn:microsoft.com/office/officeart/2005/8/layout/chevron2"/>
    <dgm:cxn modelId="{984AF67C-7A08-437F-971F-A2E12ACC93E7}" type="presParOf" srcId="{7B126A2C-10E1-4FE2-B447-09ABE7C1D944}" destId="{A6304D0E-2578-4968-A89E-2F01DE5C4819}" srcOrd="1" destOrd="0" presId="urn:microsoft.com/office/officeart/2005/8/layout/chevron2"/>
    <dgm:cxn modelId="{A433CCEF-F9A2-466F-A3DD-EA445AFABF60}" type="presParOf" srcId="{7B126A2C-10E1-4FE2-B447-09ABE7C1D944}" destId="{68EB323B-C0C2-4D3A-91AC-D63BA58D0620}" srcOrd="2" destOrd="0" presId="urn:microsoft.com/office/officeart/2005/8/layout/chevron2"/>
    <dgm:cxn modelId="{D6C2D5D6-5B56-489A-AC52-1910602BBAF7}" type="presParOf" srcId="{68EB323B-C0C2-4D3A-91AC-D63BA58D0620}" destId="{62AEBAA5-AA6F-48F9-9538-B4B8C9A61681}" srcOrd="0" destOrd="0" presId="urn:microsoft.com/office/officeart/2005/8/layout/chevron2"/>
    <dgm:cxn modelId="{1138E2D5-79FA-424F-8724-26A347D781EB}" type="presParOf" srcId="{68EB323B-C0C2-4D3A-91AC-D63BA58D0620}" destId="{F3517B5A-E61E-47A8-B79A-C09B0C19D4BF}" srcOrd="1" destOrd="0" presId="urn:microsoft.com/office/officeart/2005/8/layout/chevron2"/>
    <dgm:cxn modelId="{C359C00F-8806-4602-BA6F-827026B5CA47}" type="presParOf" srcId="{7B126A2C-10E1-4FE2-B447-09ABE7C1D944}" destId="{7802AFCF-CB6A-4384-8112-B1F989A858D2}" srcOrd="3" destOrd="0" presId="urn:microsoft.com/office/officeart/2005/8/layout/chevron2"/>
    <dgm:cxn modelId="{AEB568A7-58F5-4B39-BA2B-B879B2C769E2}" type="presParOf" srcId="{7B126A2C-10E1-4FE2-B447-09ABE7C1D944}" destId="{5CAF7E4E-4DE7-4640-9C0D-DAD7E731821A}" srcOrd="4" destOrd="0" presId="urn:microsoft.com/office/officeart/2005/8/layout/chevron2"/>
    <dgm:cxn modelId="{0687FDF8-EC1E-465E-A952-E1356F2DB660}" type="presParOf" srcId="{5CAF7E4E-4DE7-4640-9C0D-DAD7E731821A}" destId="{57C6343D-616A-4DAB-B6F4-21F195A2BC45}" srcOrd="0" destOrd="0" presId="urn:microsoft.com/office/officeart/2005/8/layout/chevron2"/>
    <dgm:cxn modelId="{5301F06B-97CF-478A-AE9B-9C548558817A}" type="presParOf" srcId="{5CAF7E4E-4DE7-4640-9C0D-DAD7E731821A}" destId="{87BEBD8E-B5E7-46C6-8D43-7888753C0DEF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5AD045-4C74-4280-A09D-9E10F597714F}">
      <dsp:nvSpPr>
        <dsp:cNvPr id="0" name=""/>
        <dsp:cNvSpPr/>
      </dsp:nvSpPr>
      <dsp:spPr>
        <a:xfrm rot="5400000">
          <a:off x="-293884" y="293884"/>
          <a:ext cx="1959229" cy="1371460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4925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Aquarium hobbyists</a:t>
          </a:r>
        </a:p>
      </dsp:txBody>
      <dsp:txXfrm rot="-5400000">
        <a:off x="1" y="685729"/>
        <a:ext cx="1371460" cy="587769"/>
      </dsp:txXfrm>
    </dsp:sp>
    <dsp:sp modelId="{0FF3F3A4-EC7E-4D0F-B45F-71B0A41AFA41}">
      <dsp:nvSpPr>
        <dsp:cNvPr id="0" name=""/>
        <dsp:cNvSpPr/>
      </dsp:nvSpPr>
      <dsp:spPr>
        <a:xfrm rot="5400000">
          <a:off x="1938105" y="1272158"/>
          <a:ext cx="1273499" cy="2406789"/>
        </a:xfrm>
        <a:prstGeom prst="round2SameRect">
          <a:avLst/>
        </a:prstGeom>
        <a:noFill/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AEBAA5-AA6F-48F9-9538-B4B8C9A61681}">
      <dsp:nvSpPr>
        <dsp:cNvPr id="0" name=""/>
        <dsp:cNvSpPr/>
      </dsp:nvSpPr>
      <dsp:spPr>
        <a:xfrm rot="5400000">
          <a:off x="-293884" y="2023603"/>
          <a:ext cx="1959229" cy="1371460"/>
        </a:xfrm>
        <a:prstGeom prst="chevron">
          <a:avLst/>
        </a:prstGeom>
        <a:solidFill>
          <a:schemeClr val="accent5">
            <a:hueOff val="4416178"/>
            <a:satOff val="14379"/>
            <a:lumOff val="5000"/>
            <a:alphaOff val="0"/>
          </a:schemeClr>
        </a:solidFill>
        <a:ln w="34925" cap="flat" cmpd="sng" algn="in">
          <a:solidFill>
            <a:schemeClr val="accent5">
              <a:hueOff val="4416178"/>
              <a:satOff val="14379"/>
              <a:lumOff val="50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Mini Aquarium owners</a:t>
          </a:r>
        </a:p>
      </dsp:txBody>
      <dsp:txXfrm rot="-5400000">
        <a:off x="1" y="2415448"/>
        <a:ext cx="1371460" cy="587769"/>
      </dsp:txXfrm>
    </dsp:sp>
    <dsp:sp modelId="{F3517B5A-E61E-47A8-B79A-C09B0C19D4BF}">
      <dsp:nvSpPr>
        <dsp:cNvPr id="0" name=""/>
        <dsp:cNvSpPr/>
      </dsp:nvSpPr>
      <dsp:spPr>
        <a:xfrm rot="5400000">
          <a:off x="1924579" y="-443165"/>
          <a:ext cx="1273499" cy="2406789"/>
        </a:xfrm>
        <a:prstGeom prst="round2SameRect">
          <a:avLst/>
        </a:prstGeom>
        <a:noFill/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6343D-616A-4DAB-B6F4-21F195A2BC45}">
      <dsp:nvSpPr>
        <dsp:cNvPr id="0" name=""/>
        <dsp:cNvSpPr/>
      </dsp:nvSpPr>
      <dsp:spPr>
        <a:xfrm rot="5400000">
          <a:off x="-293884" y="3751349"/>
          <a:ext cx="1959229" cy="1371460"/>
        </a:xfrm>
        <a:prstGeom prst="chevron">
          <a:avLst/>
        </a:prstGeom>
        <a:solidFill>
          <a:schemeClr val="accent5">
            <a:hueOff val="8832355"/>
            <a:satOff val="28758"/>
            <a:lumOff val="10000"/>
            <a:alphaOff val="0"/>
          </a:schemeClr>
        </a:solidFill>
        <a:ln w="34925" cap="flat" cmpd="sng" algn="in">
          <a:solidFill>
            <a:schemeClr val="accent5">
              <a:hueOff val="8832355"/>
              <a:satOff val="28758"/>
              <a:lumOff val="100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Busy Professionals</a:t>
          </a:r>
        </a:p>
      </dsp:txBody>
      <dsp:txXfrm rot="-5400000">
        <a:off x="1" y="4143194"/>
        <a:ext cx="1371460" cy="587769"/>
      </dsp:txXfrm>
    </dsp:sp>
    <dsp:sp modelId="{87BEBD8E-B5E7-46C6-8D43-7888753C0DEF}">
      <dsp:nvSpPr>
        <dsp:cNvPr id="0" name=""/>
        <dsp:cNvSpPr/>
      </dsp:nvSpPr>
      <dsp:spPr>
        <a:xfrm rot="5400000">
          <a:off x="1938105" y="2890820"/>
          <a:ext cx="1273499" cy="2406789"/>
        </a:xfrm>
        <a:prstGeom prst="round2SameRect">
          <a:avLst/>
        </a:prstGeom>
        <a:noFill/>
        <a:ln w="34925" cap="flat" cmpd="sng" algn="in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62280" tIns="41275" rIns="41275" bIns="41275" numCol="1" spcCol="1270" anchor="ctr" anchorCtr="0">
          <a:noAutofit/>
        </a:bodyPr>
        <a:lstStyle/>
        <a:p>
          <a:pPr marL="285750" lvl="1" indent="-285750" algn="l" defTabSz="2889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500" kern="1200" dirty="0"/>
        </a:p>
      </dsp:txBody>
      <dsp:txXfrm rot="-5400000">
        <a:off x="1371461" y="3519632"/>
        <a:ext cx="2344622" cy="1149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D4D9E-59C0-44AE-A3A4-A86C0C9355D2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CBC09-63B4-459F-A24D-A63BE567E02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3600" cap="all" baseline="0">
                <a:solidFill>
                  <a:schemeClr val="tx2"/>
                </a:solidFill>
                <a:latin typeface="Century" panose="020406040505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12" y="3956287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9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24-Jul-23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60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Individual Design Project –Intake 40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752862" y="744476"/>
            <a:ext cx="1067411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  <p:pic>
        <p:nvPicPr>
          <p:cNvPr id="10" name="Picture 9" descr="A logo of a military insignia&#10;&#10;Description automatically generated">
            <a:extLst>
              <a:ext uri="{FF2B5EF4-FFF2-40B4-BE49-F238E27FC236}">
                <a16:creationId xmlns:a16="http://schemas.microsoft.com/office/drawing/2014/main" id="{E75532A5-30BD-6122-ED95-455699ED1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256" y="0"/>
            <a:ext cx="1712228" cy="171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26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80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8"/>
            <a:ext cx="9612971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13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24-Jul-23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7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8151963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8151963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  <p:extLst>
      <p:ext uri="{BB962C8B-B14F-4D97-AF65-F5344CB8AC3E}">
        <p14:creationId xmlns:p14="http://schemas.microsoft.com/office/powerpoint/2010/main" val="2608857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1" y="2286002"/>
            <a:ext cx="4447787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5" y="2286002"/>
            <a:ext cx="4447787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682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340230"/>
            <a:ext cx="4447787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3" y="3305215"/>
            <a:ext cx="4447785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3" y="2349754"/>
            <a:ext cx="4447787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3" y="3305215"/>
            <a:ext cx="4447787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1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6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4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3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24-Jul-23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Design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484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4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3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24-Jul-23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Design Project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0926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8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884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74396" y="624156"/>
            <a:ext cx="1987933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2" y="624156"/>
            <a:ext cx="7632700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9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24-Jul-23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9" y="6453386"/>
            <a:ext cx="6280831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9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59DACFC-88C4-41F1-9CCA-CC7DE6A623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1589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4464" y="1492985"/>
            <a:ext cx="8361229" cy="2098226"/>
          </a:xfrm>
        </p:spPr>
        <p:txBody>
          <a:bodyPr/>
          <a:lstStyle/>
          <a:p>
            <a:r>
              <a:rPr lang="en-US" dirty="0"/>
              <a:t> Smart aquarium with Maintenance and Monitoring through IoT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BHMSHB HERATH</a:t>
            </a:r>
          </a:p>
          <a:p>
            <a:r>
              <a:rPr lang="en-GB" dirty="0"/>
              <a:t>D/ENG/23/0086/ET</a:t>
            </a:r>
          </a:p>
          <a:p>
            <a:r>
              <a:rPr lang="en-GB" dirty="0"/>
              <a:t>STREAM : E</a:t>
            </a:r>
            <a:r>
              <a:rPr lang="en-US" dirty="0"/>
              <a:t>T</a:t>
            </a:r>
            <a:endParaRPr lang="en-GB" dirty="0"/>
          </a:p>
          <a:p>
            <a:r>
              <a:rPr lang="en-GB" dirty="0"/>
              <a:t>Proposal Presentation of Individual Design Project</a:t>
            </a:r>
            <a:endParaRPr lang="en-US" altLang="en-GB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rson watching empty phone">
            <a:extLst>
              <a:ext uri="{FF2B5EF4-FFF2-40B4-BE49-F238E27FC236}">
                <a16:creationId xmlns:a16="http://schemas.microsoft.com/office/drawing/2014/main" id="{25C92312-46B1-E6CF-1E30-64997174EC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2000"/>
          </a:blip>
          <a:srcRect l="17103" r="-4" b="-4"/>
          <a:stretch/>
        </p:blipFill>
        <p:spPr>
          <a:xfrm>
            <a:off x="2144215" y="-1337549"/>
            <a:ext cx="9846678" cy="7993242"/>
          </a:xfrm>
          <a:prstGeom prst="rect">
            <a:avLst/>
          </a:prstGeom>
          <a:noFill/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28033" y="543848"/>
            <a:ext cx="7200900" cy="88114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entury" panose="02040604050505020304" pitchFamily="18" charset="0"/>
              </a:rPr>
              <a:t>Content of the Presentation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361581" y="1323844"/>
            <a:ext cx="8111158" cy="5230696"/>
          </a:xfrm>
        </p:spPr>
        <p:txBody>
          <a:bodyPr>
            <a:normAutofit/>
          </a:bodyPr>
          <a:lstStyle/>
          <a:p>
            <a:r>
              <a:rPr lang="en-GB" dirty="0">
                <a:latin typeface="Century" panose="02040604050505020304" pitchFamily="18" charset="0"/>
              </a:rPr>
              <a:t>Problem Identification</a:t>
            </a:r>
          </a:p>
          <a:p>
            <a:r>
              <a:rPr lang="en-GB" dirty="0">
                <a:latin typeface="Century" panose="02040604050505020304" pitchFamily="18" charset="0"/>
              </a:rPr>
              <a:t>Objectives </a:t>
            </a:r>
          </a:p>
          <a:p>
            <a:r>
              <a:rPr lang="en-GB" dirty="0">
                <a:latin typeface="Century" panose="02040604050505020304" pitchFamily="18" charset="0"/>
              </a:rPr>
              <a:t>Literature Review</a:t>
            </a:r>
          </a:p>
          <a:p>
            <a:r>
              <a:rPr lang="en-GB" dirty="0">
                <a:latin typeface="Century" panose="02040604050505020304" pitchFamily="18" charset="0"/>
              </a:rPr>
              <a:t>Market Survey</a:t>
            </a:r>
          </a:p>
          <a:p>
            <a:r>
              <a:rPr lang="en-GB" dirty="0">
                <a:latin typeface="Century" panose="02040604050505020304" pitchFamily="18" charset="0"/>
              </a:rPr>
              <a:t>Target Audience</a:t>
            </a:r>
          </a:p>
          <a:p>
            <a:r>
              <a:rPr lang="en-GB" dirty="0">
                <a:latin typeface="Century" panose="02040604050505020304" pitchFamily="18" charset="0"/>
              </a:rPr>
              <a:t>Specifications Of the Product</a:t>
            </a:r>
          </a:p>
          <a:p>
            <a:r>
              <a:rPr lang="en-GB" dirty="0">
                <a:latin typeface="Century" panose="02040604050505020304" pitchFamily="18" charset="0"/>
              </a:rPr>
              <a:t>Components</a:t>
            </a:r>
          </a:p>
          <a:p>
            <a:r>
              <a:rPr lang="en-GB" dirty="0">
                <a:latin typeface="Century" panose="02040604050505020304" pitchFamily="18" charset="0"/>
              </a:rPr>
              <a:t>System Design</a:t>
            </a:r>
          </a:p>
          <a:p>
            <a:r>
              <a:rPr lang="en-GB" dirty="0">
                <a:latin typeface="Century" panose="02040604050505020304" pitchFamily="18" charset="0"/>
              </a:rPr>
              <a:t>Problems Encountered and Solutions</a:t>
            </a:r>
          </a:p>
          <a:p>
            <a:r>
              <a:rPr lang="en-GB" dirty="0">
                <a:latin typeface="Century" panose="02040604050505020304" pitchFamily="18" charset="0"/>
              </a:rPr>
              <a:t>Cost Estimation</a:t>
            </a:r>
          </a:p>
          <a:p>
            <a:r>
              <a:rPr lang="en-US" dirty="0">
                <a:latin typeface="Century" panose="02040604050505020304" pitchFamily="18" charset="0"/>
              </a:rPr>
              <a:t>Time Plan</a:t>
            </a:r>
          </a:p>
          <a:p>
            <a:r>
              <a:rPr lang="en-US" dirty="0">
                <a:latin typeface="Century" panose="02040604050505020304" pitchFamily="18" charset="0"/>
              </a:rPr>
              <a:t>References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dirty="0"/>
              <a:t>Individual Design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B6ED9E-0821-11DE-4809-5A0F1E85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</a:t>
            </a:fld>
            <a:endParaRPr lang="en-US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3AE96B85-A548-33D9-E925-48BE1E5850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C62B-AB22-5491-BF9A-AE0588F9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" panose="02040604050505020304" pitchFamily="18" charset="0"/>
              </a:rPr>
              <a:t>Problem Identification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BD9E-33DC-5219-87D6-3A6572D25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831" y="1875453"/>
            <a:ext cx="9601200" cy="3107094"/>
          </a:xfrm>
        </p:spPr>
        <p:txBody>
          <a:bodyPr>
            <a:normAutofit/>
          </a:bodyPr>
          <a:lstStyle/>
          <a:p>
            <a:r>
              <a:rPr lang="en-US" dirty="0"/>
              <a:t>Maintaining a healthy and stable environment in aquariums.</a:t>
            </a:r>
          </a:p>
          <a:p>
            <a:r>
              <a:rPr lang="en-US" dirty="0"/>
              <a:t>Frequent manual checks and adjustments are needed.</a:t>
            </a:r>
          </a:p>
          <a:p>
            <a:r>
              <a:rPr lang="en-US" dirty="0"/>
              <a:t>Manual monitoring of water parameters (temperature, pH, etc.) are often inconsistent.</a:t>
            </a:r>
          </a:p>
          <a:p>
            <a:r>
              <a:rPr lang="en-US" dirty="0"/>
              <a:t>Without real-time monitoring, problems with water quality can go unnoticed until they become severe.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1CE1C-DD1B-563D-125F-9D64B09B7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8AD84-86BB-E0C4-9877-43A1B0D4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3</a:t>
            </a:fld>
            <a:endParaRPr lang="en-US"/>
          </a:p>
        </p:txBody>
      </p:sp>
      <p:pic>
        <p:nvPicPr>
          <p:cNvPr id="5122" name="Picture 2" descr="Problem solving Business Algorithm ...">
            <a:extLst>
              <a:ext uri="{FF2B5EF4-FFF2-40B4-BE49-F238E27FC236}">
                <a16:creationId xmlns:a16="http://schemas.microsoft.com/office/drawing/2014/main" id="{38ABBFC1-D877-76D4-CFA7-06B838702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527" y="40290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40247E7C-4ACD-68F9-F2EF-13756B32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2380733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CC588-8A91-BA2D-5C17-B2B58061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" panose="02040604050505020304" pitchFamily="18" charset="0"/>
              </a:rPr>
              <a:t>Objectives</a:t>
            </a:r>
            <a:br>
              <a:rPr lang="en-GB" dirty="0">
                <a:latin typeface="Century" panose="020406040505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20BA-0797-1C00-3A63-462D3C15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 water temperature and pH levels</a:t>
            </a:r>
          </a:p>
          <a:p>
            <a:r>
              <a:rPr lang="en-US" dirty="0"/>
              <a:t>Develop a user friendly interface to track water quality metrics</a:t>
            </a:r>
          </a:p>
          <a:p>
            <a:r>
              <a:rPr lang="en-US" dirty="0"/>
              <a:t>Implement an Automated Feeding System</a:t>
            </a:r>
          </a:p>
          <a:p>
            <a:r>
              <a:rPr lang="en-US" dirty="0"/>
              <a:t>Integration with user interface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877B0-9448-5FA8-918A-54F5C8F4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A12CD-F517-75E5-23BD-93DE66436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4</a:t>
            </a:fld>
            <a:endParaRPr lang="en-US"/>
          </a:p>
        </p:txBody>
      </p:sp>
      <p:pic>
        <p:nvPicPr>
          <p:cNvPr id="4098" name="Picture 2" descr="Objective Generic Blue icon | Freepik">
            <a:extLst>
              <a:ext uri="{FF2B5EF4-FFF2-40B4-BE49-F238E27FC236}">
                <a16:creationId xmlns:a16="http://schemas.microsoft.com/office/drawing/2014/main" id="{DBB6FE9E-12C1-183B-AF2B-DD1F78FFF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4206" y="3564294"/>
            <a:ext cx="2533358" cy="273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69E9134-3447-1345-5FDB-A60E77143C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1602064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2BE8-8A11-F63D-A40D-E2ED25BB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" panose="02040604050505020304" pitchFamily="18" charset="0"/>
              </a:rPr>
              <a:t>Literature Review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BC5A-C226-919F-2880-6641C1DD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59FF-8410-CFC0-9E0D-FE6083E8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Literature review - Student Academic ...">
            <a:extLst>
              <a:ext uri="{FF2B5EF4-FFF2-40B4-BE49-F238E27FC236}">
                <a16:creationId xmlns:a16="http://schemas.microsoft.com/office/drawing/2014/main" id="{53F6FC7B-6C83-0BAB-472A-509BA6733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690" y="486358"/>
            <a:ext cx="4236098" cy="1685342"/>
          </a:xfrm>
          <a:prstGeom prst="rect">
            <a:avLst/>
          </a:prstGeom>
          <a:noFill/>
          <a:effectLst>
            <a:glow rad="127000"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664164AD-1352-534B-A7A4-53D6B1A22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3185" y="2509642"/>
            <a:ext cx="93180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84175" indent="-384175" algn="l" defTabSz="6858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Smart Aquarium Automation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Smart aquariums use IoT and microcontrollers like ESP32 for automated control of feeding, lighting, and water quality. This improves remote monitoring, reducing manual maintenance efforts.</a:t>
            </a:r>
            <a:r>
              <a:rPr lang="en-GB" sz="1800" dirty="0">
                <a:solidFill>
                  <a:schemeClr val="tx1"/>
                </a:solidFill>
                <a:latin typeface="Century" panose="02040604050505020304" pitchFamily="18" charset="0"/>
              </a:rPr>
              <a:t> [1], [2]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Water Quality Monitoring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Sensors like pH, temperature, and turbidity monitors help maintain stable aquatic conditions. Real-time analysis prevents water contamination and ensures fish health.</a:t>
            </a:r>
            <a:r>
              <a:rPr lang="en-GB" sz="1800" dirty="0">
                <a:solidFill>
                  <a:schemeClr val="tx1"/>
                </a:solidFill>
                <a:latin typeface="Century" panose="02040604050505020304" pitchFamily="18" charset="0"/>
              </a:rPr>
              <a:t> [3], [4]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E8113793-3B26-1371-76C8-69E8B4D6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297916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C798-C739-6AF5-2998-72C185A04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7314" y="1515695"/>
            <a:ext cx="9601200" cy="4172857"/>
          </a:xfrm>
        </p:spPr>
        <p:txBody>
          <a:bodyPr>
            <a:normAutofit/>
          </a:bodyPr>
          <a:lstStyle/>
          <a:p>
            <a:pPr marL="342900"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4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Lighting and Environmental Control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LED lighting systems optimize fish growth and tank aesthetics by simulating natural conditions. AI-driven control adjusts brightness based on time and fish behavior.</a:t>
            </a:r>
            <a:r>
              <a:rPr lang="en-GB" sz="1800" dirty="0">
                <a:solidFill>
                  <a:schemeClr val="tx1"/>
                </a:solidFill>
                <a:latin typeface="Century" panose="02040604050505020304" pitchFamily="18" charset="0"/>
              </a:rPr>
              <a:t> [2], [5]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 startAt="5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Water Circulation and Filtration Systems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Efficient water circulation and filtration systems ensure clean and oxygen-rich water for fish. Automated pumps and filtration mechanisms improve water quality and reduce maintenance.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Automated Feeding Systems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Automated feeders dispense food based on pre-set schedules or fish activity. This prevents overfeeding, ensuring proper nutrition and reducing waste buildup.</a:t>
            </a:r>
            <a:r>
              <a:rPr lang="en-GB" sz="1800" dirty="0">
                <a:solidFill>
                  <a:schemeClr val="tx1"/>
                </a:solidFill>
                <a:latin typeface="Century" panose="02040604050505020304" pitchFamily="18" charset="0"/>
              </a:rPr>
              <a:t> [1], [3]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 startAt="5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BC5A-C226-919F-2880-6641C1DD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59FF-8410-CFC0-9E0D-FE6083E8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A555B-E748-1406-6768-6697BC7C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1458266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512BB-2B96-7BBC-B88D-37CF69B8C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A1335-DF87-B08F-1AFF-F85CABB23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209D1-A1B7-B444-2CBC-054DE8D0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FE3A52-020B-0BC3-26FE-DB18065D8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864"/>
          <a:stretch/>
        </p:blipFill>
        <p:spPr>
          <a:xfrm>
            <a:off x="5434173" y="471652"/>
            <a:ext cx="6512560" cy="4957598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0ECDB91-A9DB-8337-7257-FCE26AE628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8140451"/>
              </p:ext>
            </p:extLst>
          </p:nvPr>
        </p:nvGraphicFramePr>
        <p:xfrm>
          <a:off x="1825545" y="1428750"/>
          <a:ext cx="37782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04A4F9-FF4B-6EB5-4ED9-C45158EFB267}"/>
              </a:ext>
            </a:extLst>
          </p:cNvPr>
          <p:cNvSpPr txBox="1"/>
          <p:nvPr/>
        </p:nvSpPr>
        <p:spPr>
          <a:xfrm>
            <a:off x="6211203" y="5641236"/>
            <a:ext cx="478881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Source-</a:t>
            </a:r>
            <a:r>
              <a:rPr lang="en-US" sz="1100" b="0" i="1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“Aquarium Market Size, Share &amp; Trends | Growth Report [2032],” Fortunebusinessinsights.com, 2024.</a:t>
            </a:r>
          </a:p>
          <a:p>
            <a:r>
              <a:rPr lang="en-US" sz="1100" b="0" i="0" dirty="0">
                <a:solidFill>
                  <a:srgbClr val="2C3E50"/>
                </a:solidFill>
                <a:effectLst/>
                <a:latin typeface="Calibri" panose="020F0502020204030204" pitchFamily="34" charset="0"/>
              </a:rPr>
              <a:t>https://www.fortunebusinessinsights.com/aquarium-market-110692</a:t>
            </a:r>
            <a:endParaRPr lang="en-US" sz="1100" i="1" dirty="0"/>
          </a:p>
        </p:txBody>
      </p:sp>
      <p:sp>
        <p:nvSpPr>
          <p:cNvPr id="9" name="Date Placeholder 1">
            <a:extLst>
              <a:ext uri="{FF2B5EF4-FFF2-40B4-BE49-F238E27FC236}">
                <a16:creationId xmlns:a16="http://schemas.microsoft.com/office/drawing/2014/main" id="{597786A7-C842-0781-9AC1-8E526016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354896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62BE8-8A11-F63D-A40D-E2ED25BB8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384" y="181407"/>
            <a:ext cx="9601200" cy="1485900"/>
          </a:xfrm>
        </p:spPr>
        <p:txBody>
          <a:bodyPr/>
          <a:lstStyle/>
          <a:p>
            <a:pPr algn="ctr"/>
            <a:r>
              <a:rPr lang="en-US" sz="4400" dirty="0">
                <a:latin typeface="Century" panose="02040604050505020304" pitchFamily="18" charset="0"/>
              </a:rPr>
              <a:t>Market Survey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BC5A-C226-919F-2880-6641C1DD1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B59FF-8410-CFC0-9E0D-FE6083E8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 descr="VAYINATO 3 in 1 Internal Filter For Fish Tank | Power : 15W | Flow :  880L/H) Power Aquarium Filter Price in India - Buy VAYINATO 3 in 1 Internal  Filter For">
            <a:extLst>
              <a:ext uri="{FF2B5EF4-FFF2-40B4-BE49-F238E27FC236}">
                <a16:creationId xmlns:a16="http://schemas.microsoft.com/office/drawing/2014/main" id="{511C340D-C6D4-52AC-E75F-FC0B0E8555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095" y="1084082"/>
            <a:ext cx="2730253" cy="257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2492BC-98A1-B531-1C07-7132FC6CA5FC}"/>
              </a:ext>
            </a:extLst>
          </p:cNvPr>
          <p:cNvSpPr txBox="1"/>
          <p:nvPr/>
        </p:nvSpPr>
        <p:spPr>
          <a:xfrm>
            <a:off x="748365" y="3727966"/>
            <a:ext cx="376707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Basic Sponge Filter</a:t>
            </a:r>
          </a:p>
          <a:p>
            <a:r>
              <a:rPr lang="en-US" dirty="0"/>
              <a:t>price range: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Small (10-30 gallons)</a:t>
            </a:r>
            <a:r>
              <a:rPr lang="en-US" dirty="0"/>
              <a:t>: $15 - $40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Medium (30-60 gallons)</a:t>
            </a:r>
            <a:r>
              <a:rPr lang="en-US" dirty="0"/>
              <a:t>: $40 - $70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Large (60+ gallons)</a:t>
            </a:r>
            <a:r>
              <a:rPr lang="en-US" dirty="0"/>
              <a:t>: $70 - $150+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DCD53-6DEF-BD97-BA4D-F33872D575AC}"/>
              </a:ext>
            </a:extLst>
          </p:cNvPr>
          <p:cNvSpPr txBox="1"/>
          <p:nvPr/>
        </p:nvSpPr>
        <p:spPr>
          <a:xfrm>
            <a:off x="4668857" y="3727966"/>
            <a:ext cx="3598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Automatic Fish Feeder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Price- $19.99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Adjustable Feeding Amount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Adjustable Feeding Amount</a:t>
            </a:r>
            <a:endParaRPr lang="en-US" dirty="0">
              <a:solidFill>
                <a:srgbClr val="0F1111"/>
              </a:solidFill>
              <a:latin typeface="Amazon Ember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Professional fish feeder with timer automatically dispenses food every day or at intervals (up to 4 days).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4043F-7AE9-415A-CDBA-97A324365EAE}"/>
              </a:ext>
            </a:extLst>
          </p:cNvPr>
          <p:cNvSpPr txBox="1"/>
          <p:nvPr/>
        </p:nvSpPr>
        <p:spPr>
          <a:xfrm>
            <a:off x="8267307" y="3474532"/>
            <a:ext cx="39246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r>
              <a:rPr lang="en-US" b="1" dirty="0" err="1"/>
              <a:t>Kactoily</a:t>
            </a:r>
            <a:r>
              <a:rPr lang="en-US" b="1" dirty="0"/>
              <a:t> Smart Aquarium Monitor</a:t>
            </a:r>
          </a:p>
          <a:p>
            <a:pPr algn="ctr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Price- $188.99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1"/>
                </a:solidFill>
                <a:effectLst/>
                <a:latin typeface="Amazon Ember"/>
              </a:rPr>
              <a:t>All-in-One Monitor: This versatile 7-in-1 aquarium pH monitor measures multiple water quality parameters including pH, TDS, EC, ORP, Specific Gravity, Salinity, and Temperature</a:t>
            </a:r>
            <a:endParaRPr lang="en-US" dirty="0"/>
          </a:p>
        </p:txBody>
      </p:sp>
      <p:pic>
        <p:nvPicPr>
          <p:cNvPr id="6146" name="Picture 2" descr="Pawfly Automatic Fish Feeder for Aquarium Auto Vacation Timer Fish Feeder for Fish Tank 320 ml Adjustable Fish Food Dispen...">
            <a:extLst>
              <a:ext uri="{FF2B5EF4-FFF2-40B4-BE49-F238E27FC236}">
                <a16:creationId xmlns:a16="http://schemas.microsoft.com/office/drawing/2014/main" id="{7F143F7D-00EC-C2C5-40DE-EA6693835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878" y="1084082"/>
            <a:ext cx="2415232" cy="256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94839578-2525-45F4-888A-C69859B31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915" y="1084082"/>
            <a:ext cx="2908762" cy="2573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FF5B52B-6ADE-D602-4919-8AAA7AD62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1691016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FBEE6-4A67-565F-A3C5-D5FE02DD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Century" panose="02040604050505020304" pitchFamily="18" charset="0"/>
              </a:rPr>
              <a:t>Specifications</a:t>
            </a:r>
            <a:endParaRPr lang="en-US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A3A72-7965-A850-D6C4-A48D319FE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Fully integrated system -  semi automated feeding, </a:t>
            </a:r>
          </a:p>
          <a:p>
            <a:pPr marL="0" indent="0">
              <a:buNone/>
            </a:pPr>
            <a:r>
              <a:rPr lang="en-US" dirty="0"/>
              <a:t>				     water quality monitoring, </a:t>
            </a:r>
          </a:p>
          <a:p>
            <a:pPr marL="0" indent="0">
              <a:buNone/>
            </a:pPr>
            <a:r>
              <a:rPr lang="en-US" dirty="0"/>
              <a:t>                                                 lighting control, </a:t>
            </a:r>
          </a:p>
          <a:p>
            <a:pPr marL="0" indent="0">
              <a:buNone/>
            </a:pPr>
            <a:r>
              <a:rPr lang="en-US" dirty="0"/>
              <a:t>                                                 temperature detection,</a:t>
            </a:r>
          </a:p>
          <a:p>
            <a:pPr marL="0" indent="0">
              <a:buNone/>
            </a:pPr>
            <a:r>
              <a:rPr lang="en-US" dirty="0"/>
              <a:t>                                                 filtration </a:t>
            </a:r>
          </a:p>
          <a:p>
            <a:r>
              <a:rPr lang="en-US" dirty="0"/>
              <a:t>Cost effective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Movable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CE1F5-C3BA-6654-5067-B2867A981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D1E9D-B3E3-343D-3382-B6939ECF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 descr="Understanding IP Camera Specifications ...">
            <a:extLst>
              <a:ext uri="{FF2B5EF4-FFF2-40B4-BE49-F238E27FC236}">
                <a16:creationId xmlns:a16="http://schemas.microsoft.com/office/drawing/2014/main" id="{1F7124AC-AAF5-784E-211A-7C9C0B218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2983" y="1816651"/>
            <a:ext cx="3651302" cy="341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973A76DB-B00A-A274-4646-C8CD103BCD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3714355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A2BA-AF1C-1787-8ADC-F8EBA9C79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107330"/>
            <a:ext cx="9601200" cy="1485900"/>
          </a:xfrm>
        </p:spPr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System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9CB7-7F3E-70A5-402D-F341E6CD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EA61-0FF1-77DC-49A5-34CF8E7A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10</a:t>
            </a:fld>
            <a:endParaRPr lang="en-US"/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32DA6C8-4720-B2CD-5632-A625DED1E63B}"/>
              </a:ext>
            </a:extLst>
          </p:cNvPr>
          <p:cNvCxnSpPr>
            <a:cxnSpLocks/>
          </p:cNvCxnSpPr>
          <p:nvPr/>
        </p:nvCxnSpPr>
        <p:spPr>
          <a:xfrm>
            <a:off x="10782989" y="2261179"/>
            <a:ext cx="147143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B29CD7F-84F9-96F3-BA77-027BFB1583CA}"/>
              </a:ext>
            </a:extLst>
          </p:cNvPr>
          <p:cNvGrpSpPr/>
          <p:nvPr/>
        </p:nvGrpSpPr>
        <p:grpSpPr>
          <a:xfrm>
            <a:off x="773031" y="209428"/>
            <a:ext cx="11147934" cy="6243958"/>
            <a:chOff x="773031" y="209428"/>
            <a:chExt cx="11147934" cy="6243958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95799A4-C72D-434B-F53C-BE1C8A504CB1}"/>
                </a:ext>
              </a:extLst>
            </p:cNvPr>
            <p:cNvCxnSpPr>
              <a:cxnSpLocks/>
            </p:cNvCxnSpPr>
            <p:nvPr/>
          </p:nvCxnSpPr>
          <p:spPr>
            <a:xfrm>
              <a:off x="5467546" y="5304998"/>
              <a:ext cx="20065" cy="1122337"/>
            </a:xfrm>
            <a:prstGeom prst="line">
              <a:avLst/>
            </a:prstGeom>
            <a:ln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90D780C6-A703-9706-8067-38856A4C33DD}"/>
                </a:ext>
              </a:extLst>
            </p:cNvPr>
            <p:cNvCxnSpPr>
              <a:cxnSpLocks/>
            </p:cNvCxnSpPr>
            <p:nvPr/>
          </p:nvCxnSpPr>
          <p:spPr>
            <a:xfrm>
              <a:off x="11418968" y="4056448"/>
              <a:ext cx="0" cy="217764"/>
            </a:xfrm>
            <a:prstGeom prst="line">
              <a:avLst/>
            </a:prstGeom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3586B277-2564-381D-BACE-578762424667}"/>
                </a:ext>
              </a:extLst>
            </p:cNvPr>
            <p:cNvGrpSpPr/>
            <p:nvPr/>
          </p:nvGrpSpPr>
          <p:grpSpPr>
            <a:xfrm>
              <a:off x="773031" y="209428"/>
              <a:ext cx="11147934" cy="6243958"/>
              <a:chOff x="773031" y="307021"/>
              <a:chExt cx="11147934" cy="6243958"/>
            </a:xfrm>
          </p:grpSpPr>
          <p:cxnSp>
            <p:nvCxnSpPr>
              <p:cNvPr id="139" name="Straight Arrow Connector 138">
                <a:extLst>
                  <a:ext uri="{FF2B5EF4-FFF2-40B4-BE49-F238E27FC236}">
                    <a16:creationId xmlns:a16="http://schemas.microsoft.com/office/drawing/2014/main" id="{82929307-71A5-E844-F064-837514F64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3418" y="4639905"/>
                <a:ext cx="559833" cy="3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6"/>
              </a:lnRef>
              <a:fillRef idx="0">
                <a:schemeClr val="accent6"/>
              </a:fillRef>
              <a:effectRef idx="1">
                <a:schemeClr val="accent6"/>
              </a:effectRef>
              <a:fontRef idx="minor">
                <a:schemeClr val="tx1"/>
              </a:fontRef>
            </p:style>
          </p:cxn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85FAA333-31C2-2E20-F180-E165D432C990}"/>
                  </a:ext>
                </a:extLst>
              </p:cNvPr>
              <p:cNvGrpSpPr/>
              <p:nvPr/>
            </p:nvGrpSpPr>
            <p:grpSpPr>
              <a:xfrm>
                <a:off x="773031" y="307021"/>
                <a:ext cx="11147934" cy="6243958"/>
                <a:chOff x="782627" y="209039"/>
                <a:chExt cx="11147934" cy="6243958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524E197-6F59-E77A-E816-CFE0A8F4E9E2}"/>
                    </a:ext>
                  </a:extLst>
                </p:cNvPr>
                <p:cNvSpPr/>
                <p:nvPr/>
              </p:nvSpPr>
              <p:spPr>
                <a:xfrm>
                  <a:off x="3606725" y="1075694"/>
                  <a:ext cx="1436914" cy="5019868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22B05B"/>
                    </a:gs>
                    <a:gs pos="61000">
                      <a:schemeClr val="accent4">
                        <a:lumMod val="97000"/>
                        <a:lumOff val="3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/>
                      </a:solidFill>
                    </a:rPr>
                    <a:t>ESP32</a:t>
                  </a: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BD1C154E-88DA-D3BD-5218-7BA343676C20}"/>
                    </a:ext>
                  </a:extLst>
                </p:cNvPr>
                <p:cNvSpPr/>
                <p:nvPr/>
              </p:nvSpPr>
              <p:spPr>
                <a:xfrm>
                  <a:off x="1002996" y="3346065"/>
                  <a:ext cx="1855153" cy="74269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2"/>
                    </a:gs>
                    <a:gs pos="100000">
                      <a:srgbClr val="FF00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solidFill>
                        <a:schemeClr val="tx1"/>
                      </a:solidFill>
                    </a:rPr>
                    <a:t>Temperature Sensor</a:t>
                  </a:r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AFF896B9-D193-3020-A84E-0BEC395755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74380" y="3735362"/>
                  <a:ext cx="721320" cy="11913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BEE6D99-9053-3E6E-BA58-CB6ED1D631A5}"/>
                    </a:ext>
                  </a:extLst>
                </p:cNvPr>
                <p:cNvSpPr/>
                <p:nvPr/>
              </p:nvSpPr>
              <p:spPr>
                <a:xfrm>
                  <a:off x="10930132" y="1878603"/>
                  <a:ext cx="922723" cy="74258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</a:rPr>
                    <a:t>Light</a:t>
                  </a:r>
                </a:p>
              </p:txBody>
            </p: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84163B68-E15D-2141-B77B-6A1FDB9DB9AB}"/>
                    </a:ext>
                  </a:extLst>
                </p:cNvPr>
                <p:cNvGrpSpPr/>
                <p:nvPr/>
              </p:nvGrpSpPr>
              <p:grpSpPr>
                <a:xfrm>
                  <a:off x="1492320" y="855260"/>
                  <a:ext cx="2114405" cy="660358"/>
                  <a:chOff x="1042987" y="2801516"/>
                  <a:chExt cx="2092099" cy="1278293"/>
                </a:xfrm>
                <a:gradFill flip="none" rotWithShape="1">
                  <a:gsLst>
                    <a:gs pos="0">
                      <a:schemeClr val="bg2"/>
                    </a:gs>
                    <a:gs pos="100000">
                      <a:srgbClr val="FF00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grpSpPr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32211523-0CDB-F586-B043-4366AA866932}"/>
                      </a:ext>
                    </a:extLst>
                  </p:cNvPr>
                  <p:cNvSpPr/>
                  <p:nvPr/>
                </p:nvSpPr>
                <p:spPr>
                  <a:xfrm>
                    <a:off x="1042987" y="2801516"/>
                    <a:ext cx="1308327" cy="1278293"/>
                  </a:xfrm>
                  <a:prstGeom prst="rect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solidFill>
                          <a:schemeClr val="tx1"/>
                        </a:solidFill>
                      </a:rPr>
                      <a:t>PH Sensor</a:t>
                    </a:r>
                  </a:p>
                </p:txBody>
              </p:sp>
              <p:cxnSp>
                <p:nvCxnSpPr>
                  <p:cNvPr id="31" name="Straight Arrow Connector 30">
                    <a:extLst>
                      <a:ext uri="{FF2B5EF4-FFF2-40B4-BE49-F238E27FC236}">
                        <a16:creationId xmlns:a16="http://schemas.microsoft.com/office/drawing/2014/main" id="{1BB89F37-23EE-9E3B-1D0E-D5910EDD7C2A}"/>
                      </a:ext>
                    </a:extLst>
                  </p:cNvPr>
                  <p:cNvCxnSpPr>
                    <a:stCxn id="30" idx="3"/>
                  </p:cNvCxnSpPr>
                  <p:nvPr/>
                </p:nvCxnSpPr>
                <p:spPr>
                  <a:xfrm flipV="1">
                    <a:off x="2351314" y="3440662"/>
                    <a:ext cx="783772" cy="1"/>
                  </a:xfrm>
                  <a:prstGeom prst="straightConnector1">
                    <a:avLst/>
                  </a:prstGeom>
                  <a:grpFill/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7120AEEC-C64A-BB63-B685-8EC412CBD143}"/>
                    </a:ext>
                  </a:extLst>
                </p:cNvPr>
                <p:cNvGrpSpPr/>
                <p:nvPr/>
              </p:nvGrpSpPr>
              <p:grpSpPr>
                <a:xfrm>
                  <a:off x="1434024" y="2170343"/>
                  <a:ext cx="2143380" cy="771044"/>
                  <a:chOff x="1042987" y="2801516"/>
                  <a:chExt cx="2092099" cy="1278293"/>
                </a:xfrm>
                <a:gradFill flip="none" rotWithShape="1">
                  <a:gsLst>
                    <a:gs pos="0">
                      <a:schemeClr val="bg2"/>
                    </a:gs>
                    <a:gs pos="100000">
                      <a:srgbClr val="FF00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17542A6F-CB2A-E6AD-0954-75253D64470C}"/>
                      </a:ext>
                    </a:extLst>
                  </p:cNvPr>
                  <p:cNvSpPr/>
                  <p:nvPr/>
                </p:nvSpPr>
                <p:spPr>
                  <a:xfrm>
                    <a:off x="1042987" y="2801516"/>
                    <a:ext cx="1308327" cy="1278293"/>
                  </a:xfrm>
                  <a:prstGeom prst="rect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solidFill>
                          <a:schemeClr val="tx1"/>
                        </a:solidFill>
                      </a:rPr>
                      <a:t>TDS Sensor</a:t>
                    </a:r>
                  </a:p>
                </p:txBody>
              </p:sp>
              <p:cxnSp>
                <p:nvCxnSpPr>
                  <p:cNvPr id="36" name="Straight Arrow Connector 35">
                    <a:extLst>
                      <a:ext uri="{FF2B5EF4-FFF2-40B4-BE49-F238E27FC236}">
                        <a16:creationId xmlns:a16="http://schemas.microsoft.com/office/drawing/2014/main" id="{F8D23B06-73A0-F26A-8834-24F697C7274F}"/>
                      </a:ext>
                    </a:extLst>
                  </p:cNvPr>
                  <p:cNvCxnSpPr>
                    <a:stCxn id="34" idx="3"/>
                  </p:cNvCxnSpPr>
                  <p:nvPr/>
                </p:nvCxnSpPr>
                <p:spPr>
                  <a:xfrm flipV="1">
                    <a:off x="2351314" y="3440662"/>
                    <a:ext cx="783772" cy="1"/>
                  </a:xfrm>
                  <a:prstGeom prst="straightConnector1">
                    <a:avLst/>
                  </a:prstGeom>
                  <a:grpFill/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FDCB80B-3A78-6F56-958C-75AB4F8BED29}"/>
                    </a:ext>
                  </a:extLst>
                </p:cNvPr>
                <p:cNvGrpSpPr/>
                <p:nvPr/>
              </p:nvGrpSpPr>
              <p:grpSpPr>
                <a:xfrm>
                  <a:off x="1344498" y="4775297"/>
                  <a:ext cx="2227294" cy="771044"/>
                  <a:chOff x="926416" y="2801516"/>
                  <a:chExt cx="2208670" cy="1278293"/>
                </a:xfrm>
                <a:gradFill flip="none" rotWithShape="1">
                  <a:gsLst>
                    <a:gs pos="0">
                      <a:schemeClr val="bg2"/>
                    </a:gs>
                    <a:gs pos="100000">
                      <a:srgbClr val="FF00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C10A1D82-B42A-3E17-1D17-129E538BEB4B}"/>
                      </a:ext>
                    </a:extLst>
                  </p:cNvPr>
                  <p:cNvSpPr/>
                  <p:nvPr/>
                </p:nvSpPr>
                <p:spPr>
                  <a:xfrm>
                    <a:off x="926416" y="2801516"/>
                    <a:ext cx="1424898" cy="1278293"/>
                  </a:xfrm>
                  <a:prstGeom prst="rect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solidFill>
                          <a:schemeClr val="tx1"/>
                        </a:solidFill>
                      </a:rPr>
                      <a:t>Ultrasonic Sensor</a:t>
                    </a:r>
                  </a:p>
                </p:txBody>
              </p:sp>
              <p:cxnSp>
                <p:nvCxnSpPr>
                  <p:cNvPr id="42" name="Straight Arrow Connector 41">
                    <a:extLst>
                      <a:ext uri="{FF2B5EF4-FFF2-40B4-BE49-F238E27FC236}">
                        <a16:creationId xmlns:a16="http://schemas.microsoft.com/office/drawing/2014/main" id="{BB551E88-A136-09CF-5F48-153C7E38750C}"/>
                      </a:ext>
                    </a:extLst>
                  </p:cNvPr>
                  <p:cNvCxnSpPr>
                    <a:cxnSpLocks/>
                    <a:stCxn id="41" idx="3"/>
                  </p:cNvCxnSpPr>
                  <p:nvPr/>
                </p:nvCxnSpPr>
                <p:spPr>
                  <a:xfrm>
                    <a:off x="2351314" y="3440663"/>
                    <a:ext cx="783772" cy="0"/>
                  </a:xfrm>
                  <a:prstGeom prst="straightConnector1">
                    <a:avLst/>
                  </a:prstGeom>
                  <a:grpFill/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EDADDA2-1F26-5F45-ACF8-F1CE398332DF}"/>
                    </a:ext>
                  </a:extLst>
                </p:cNvPr>
                <p:cNvSpPr/>
                <p:nvPr/>
              </p:nvSpPr>
              <p:spPr>
                <a:xfrm>
                  <a:off x="6116659" y="4901702"/>
                  <a:ext cx="1231642" cy="1003041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lumMod val="67000"/>
                      </a:schemeClr>
                    </a:gs>
                    <a:gs pos="48000">
                      <a:schemeClr val="accent2">
                        <a:lumMod val="97000"/>
                        <a:lumOff val="3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solidFill>
                        <a:schemeClr val="tx1"/>
                      </a:solidFill>
                    </a:rPr>
                    <a:t>Filter Motor</a:t>
                  </a:r>
                </a:p>
              </p:txBody>
            </p: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B24D804-6090-C05F-9332-DBC6A1299B67}"/>
                    </a:ext>
                  </a:extLst>
                </p:cNvPr>
                <p:cNvGrpSpPr/>
                <p:nvPr/>
              </p:nvGrpSpPr>
              <p:grpSpPr>
                <a:xfrm>
                  <a:off x="4978338" y="4138768"/>
                  <a:ext cx="2113626" cy="539918"/>
                  <a:chOff x="4572000" y="1250302"/>
                  <a:chExt cx="2192693" cy="671804"/>
                </a:xfrm>
                <a:gradFill flip="none" rotWithShape="1">
                  <a:gsLst>
                    <a:gs pos="0">
                      <a:schemeClr val="accent2">
                        <a:lumMod val="67000"/>
                      </a:schemeClr>
                    </a:gs>
                    <a:gs pos="48000">
                      <a:schemeClr val="accent2">
                        <a:lumMod val="97000"/>
                        <a:lumOff val="3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p:grpSpPr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E6D22FEC-CE3C-24E8-DD98-533B870DF3F2}"/>
                      </a:ext>
                    </a:extLst>
                  </p:cNvPr>
                  <p:cNvSpPr/>
                  <p:nvPr/>
                </p:nvSpPr>
                <p:spPr>
                  <a:xfrm>
                    <a:off x="5589036" y="1250302"/>
                    <a:ext cx="1175657" cy="671804"/>
                  </a:xfrm>
                  <a:prstGeom prst="rect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b="1" dirty="0">
                        <a:solidFill>
                          <a:schemeClr val="tx1"/>
                        </a:solidFill>
                      </a:rPr>
                      <a:t>Feeder Motor</a:t>
                    </a:r>
                  </a:p>
                </p:txBody>
              </p:sp>
              <p:cxnSp>
                <p:nvCxnSpPr>
                  <p:cNvPr id="22" name="Straight Arrow Connector 21">
                    <a:extLst>
                      <a:ext uri="{FF2B5EF4-FFF2-40B4-BE49-F238E27FC236}">
                        <a16:creationId xmlns:a16="http://schemas.microsoft.com/office/drawing/2014/main" id="{11018A3C-0998-B634-0B20-E4F77C4BB77D}"/>
                      </a:ext>
                    </a:extLst>
                  </p:cNvPr>
                  <p:cNvCxnSpPr>
                    <a:endCxn id="10" idx="1"/>
                  </p:cNvCxnSpPr>
                  <p:nvPr/>
                </p:nvCxnSpPr>
                <p:spPr>
                  <a:xfrm flipV="1">
                    <a:off x="4572000" y="1586204"/>
                    <a:ext cx="1017036" cy="9331"/>
                  </a:xfrm>
                  <a:prstGeom prst="straightConnector1">
                    <a:avLst/>
                  </a:prstGeom>
                  <a:grpFill/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E8580D33-DF73-4585-8871-19B399ECB4AC}"/>
                    </a:ext>
                  </a:extLst>
                </p:cNvPr>
                <p:cNvSpPr/>
                <p:nvPr/>
              </p:nvSpPr>
              <p:spPr>
                <a:xfrm>
                  <a:off x="8178023" y="4374846"/>
                  <a:ext cx="1261484" cy="972733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FFFF00">
                        <a:tint val="66000"/>
                        <a:satMod val="160000"/>
                      </a:srgbClr>
                    </a:gs>
                    <a:gs pos="50000">
                      <a:srgbClr val="FFFF00">
                        <a:tint val="44500"/>
                        <a:satMod val="160000"/>
                      </a:srgbClr>
                    </a:gs>
                    <a:gs pos="100000">
                      <a:srgbClr val="FFFF00">
                        <a:tint val="23500"/>
                        <a:satMod val="160000"/>
                      </a:srgbClr>
                    </a:gs>
                  </a:gsLst>
                  <a:lin ang="8100000" scaled="1"/>
                  <a:tileRect/>
                </a:gra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solidFill>
                        <a:schemeClr val="tx1"/>
                      </a:solidFill>
                    </a:rPr>
                    <a:t>Motor Driver</a:t>
                  </a:r>
                </a:p>
              </p:txBody>
            </p: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0109237F-6E14-A221-7B23-414AAE53BD1C}"/>
                    </a:ext>
                  </a:extLst>
                </p:cNvPr>
                <p:cNvGrpSpPr/>
                <p:nvPr/>
              </p:nvGrpSpPr>
              <p:grpSpPr>
                <a:xfrm>
                  <a:off x="7355087" y="4841083"/>
                  <a:ext cx="822936" cy="609096"/>
                  <a:chOff x="7355087" y="4841083"/>
                  <a:chExt cx="822936" cy="609096"/>
                </a:xfrm>
              </p:grpSpPr>
              <p:cxnSp>
                <p:nvCxnSpPr>
                  <p:cNvPr id="57" name="Straight Arrow Connector 56">
                    <a:extLst>
                      <a:ext uri="{FF2B5EF4-FFF2-40B4-BE49-F238E27FC236}">
                        <a16:creationId xmlns:a16="http://schemas.microsoft.com/office/drawing/2014/main" id="{E1CB4206-84EA-5B32-662E-881FCB2785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355087" y="5447521"/>
                    <a:ext cx="308608" cy="2658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66979DCD-BF65-B0F3-E495-B1A036E2E2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7647368" y="4861212"/>
                    <a:ext cx="16327" cy="586309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0099A4DD-3834-682A-D8CF-A3653D0CCBEF}"/>
                      </a:ext>
                    </a:extLst>
                  </p:cNvPr>
                  <p:cNvCxnSpPr>
                    <a:cxnSpLocks/>
                    <a:endCxn id="52" idx="1"/>
                  </p:cNvCxnSpPr>
                  <p:nvPr/>
                </p:nvCxnSpPr>
                <p:spPr>
                  <a:xfrm>
                    <a:off x="7647368" y="4841083"/>
                    <a:ext cx="530655" cy="20130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accent6"/>
                  </a:lnRef>
                  <a:fillRef idx="0">
                    <a:schemeClr val="accent6"/>
                  </a:fillRef>
                  <a:effectRef idx="1">
                    <a:schemeClr val="accent6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E785D81-B5A4-344F-D750-A85A0D4D277F}"/>
                    </a:ext>
                  </a:extLst>
                </p:cNvPr>
                <p:cNvSpPr/>
                <p:nvPr/>
              </p:nvSpPr>
              <p:spPr>
                <a:xfrm>
                  <a:off x="10176405" y="4480867"/>
                  <a:ext cx="1562642" cy="627448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12V Power Supply</a:t>
                  </a:r>
                </a:p>
              </p:txBody>
            </p:sp>
            <p:cxnSp>
              <p:nvCxnSpPr>
                <p:cNvPr id="79" name="Straight Arrow Connector 78">
                  <a:extLst>
                    <a:ext uri="{FF2B5EF4-FFF2-40B4-BE49-F238E27FC236}">
                      <a16:creationId xmlns:a16="http://schemas.microsoft.com/office/drawing/2014/main" id="{FECA90B9-EE7B-A78C-5561-EE010182AC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405217" y="4757925"/>
                  <a:ext cx="74618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Arrow Connector 80">
                  <a:extLst>
                    <a:ext uri="{FF2B5EF4-FFF2-40B4-BE49-F238E27FC236}">
                      <a16:creationId xmlns:a16="http://schemas.microsoft.com/office/drawing/2014/main" id="{4B0F63C6-1E25-428E-CE98-F0DC600B8A50}"/>
                    </a:ext>
                  </a:extLst>
                </p:cNvPr>
                <p:cNvCxnSpPr>
                  <a:cxnSpLocks/>
                  <a:stCxn id="78" idx="2"/>
                </p:cNvCxnSpPr>
                <p:nvPr/>
              </p:nvCxnSpPr>
              <p:spPr>
                <a:xfrm>
                  <a:off x="10957726" y="5108315"/>
                  <a:ext cx="12521" cy="59591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2917E443-2638-2845-3006-70E7FBD1D880}"/>
                    </a:ext>
                  </a:extLst>
                </p:cNvPr>
                <p:cNvSpPr/>
                <p:nvPr/>
              </p:nvSpPr>
              <p:spPr>
                <a:xfrm>
                  <a:off x="10176405" y="5704420"/>
                  <a:ext cx="1754156" cy="509583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Buck converter</a:t>
                  </a:r>
                </a:p>
              </p:txBody>
            </p: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7C83C1E0-CFBE-71AE-D235-6DCED71FAC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9100" y="6431464"/>
                  <a:ext cx="6864420" cy="21533"/>
                </a:xfrm>
                <a:prstGeom prst="line">
                  <a:avLst/>
                </a:prstGeom>
                <a:ln/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02CAE71D-9465-80AE-3627-2D4F79604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9100" y="6095562"/>
                  <a:ext cx="0" cy="3574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302E151-33C7-2059-2FED-48E7040316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121347" y="6217813"/>
                  <a:ext cx="0" cy="209522"/>
                </a:xfrm>
                <a:prstGeom prst="line">
                  <a:avLst/>
                </a:prstGeom>
                <a:ln/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10B09886-CDCA-568C-D251-F4CA7F203D6B}"/>
                    </a:ext>
                  </a:extLst>
                </p:cNvPr>
                <p:cNvGrpSpPr/>
                <p:nvPr/>
              </p:nvGrpSpPr>
              <p:grpSpPr>
                <a:xfrm>
                  <a:off x="5594145" y="209039"/>
                  <a:ext cx="4752283" cy="3921434"/>
                  <a:chOff x="5578175" y="82473"/>
                  <a:chExt cx="5515345" cy="4151620"/>
                </a:xfrm>
              </p:grpSpPr>
              <p:cxnSp>
                <p:nvCxnSpPr>
                  <p:cNvPr id="69" name="Straight Arrow Connector 68">
                    <a:extLst>
                      <a:ext uri="{FF2B5EF4-FFF2-40B4-BE49-F238E27FC236}">
                        <a16:creationId xmlns:a16="http://schemas.microsoft.com/office/drawing/2014/main" id="{38D6E222-2383-742D-DDA3-99B9A6B1D5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9224289" y="1927386"/>
                    <a:ext cx="315395" cy="9010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3" name="Group 122">
                    <a:extLst>
                      <a:ext uri="{FF2B5EF4-FFF2-40B4-BE49-F238E27FC236}">
                        <a16:creationId xmlns:a16="http://schemas.microsoft.com/office/drawing/2014/main" id="{4AC16E91-0ABD-4E11-077E-77018D8A19BD}"/>
                      </a:ext>
                    </a:extLst>
                  </p:cNvPr>
                  <p:cNvGrpSpPr/>
                  <p:nvPr/>
                </p:nvGrpSpPr>
                <p:grpSpPr>
                  <a:xfrm>
                    <a:off x="5578175" y="82473"/>
                    <a:ext cx="5515345" cy="4151620"/>
                    <a:chOff x="5578170" y="80291"/>
                    <a:chExt cx="5515345" cy="4151620"/>
                  </a:xfrm>
                </p:grpSpPr>
                <p:cxnSp>
                  <p:nvCxnSpPr>
                    <p:cNvPr id="68" name="Straight Arrow Connector 67">
                      <a:extLst>
                        <a:ext uri="{FF2B5EF4-FFF2-40B4-BE49-F238E27FC236}">
                          <a16:creationId xmlns:a16="http://schemas.microsoft.com/office/drawing/2014/main" id="{D245D3AC-FD37-DEC0-4246-A0A3447C6F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222305" y="2738484"/>
                      <a:ext cx="315395" cy="9010"/>
                    </a:xfrm>
                    <a:prstGeom prst="straightConnector1">
                      <a:avLst/>
                    </a:prstGeom>
                    <a:ln w="381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" name="Rectangle 2">
                      <a:extLst>
                        <a:ext uri="{FF2B5EF4-FFF2-40B4-BE49-F238E27FC236}">
                          <a16:creationId xmlns:a16="http://schemas.microsoft.com/office/drawing/2014/main" id="{4716C135-F00E-43DC-82A9-02A59570D7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34660" y="3083545"/>
                      <a:ext cx="1558855" cy="569973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Light Button</a:t>
                      </a:r>
                    </a:p>
                  </p:txBody>
                </p:sp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3755396B-BEE5-8D9F-710B-89AD7DF2445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578170" y="80291"/>
                      <a:ext cx="5487927" cy="4151620"/>
                      <a:chOff x="5587073" y="104785"/>
                      <a:chExt cx="5487927" cy="4151620"/>
                    </a:xfrm>
                  </p:grpSpPr>
                  <p:grpSp>
                    <p:nvGrpSpPr>
                      <p:cNvPr id="72" name="Group 71">
                        <a:extLst>
                          <a:ext uri="{FF2B5EF4-FFF2-40B4-BE49-F238E27FC236}">
                            <a16:creationId xmlns:a16="http://schemas.microsoft.com/office/drawing/2014/main" id="{9F73675B-F5BE-0C80-E3ED-CCADC2C735D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87073" y="104785"/>
                        <a:ext cx="5487927" cy="4151620"/>
                        <a:chOff x="5594144" y="2252327"/>
                        <a:chExt cx="5487927" cy="4151620"/>
                      </a:xfrm>
                    </p:grpSpPr>
                    <p:sp>
                      <p:nvSpPr>
                        <p:cNvPr id="12" name="Rectangle 11">
                          <a:extLst>
                            <a:ext uri="{FF2B5EF4-FFF2-40B4-BE49-F238E27FC236}">
                              <a16:creationId xmlns:a16="http://schemas.microsoft.com/office/drawing/2014/main" id="{47295C52-32D6-0D1F-09F7-379F55EC88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144650" y="3741319"/>
                          <a:ext cx="1987421" cy="782288"/>
                        </a:xfrm>
                        <a:prstGeom prst="rect">
                          <a:avLst/>
                        </a:prstGeom>
                        <a:gradFill flip="none" rotWithShape="1">
                          <a:gsLst>
                            <a:gs pos="0">
                              <a:schemeClr val="bg1">
                                <a:lumMod val="75000"/>
                                <a:shade val="30000"/>
                                <a:satMod val="115000"/>
                              </a:schemeClr>
                            </a:gs>
                            <a:gs pos="50000">
                              <a:schemeClr val="bg1">
                                <a:lumMod val="75000"/>
                                <a:shade val="67500"/>
                                <a:satMod val="115000"/>
                              </a:schemeClr>
                            </a:gs>
                            <a:gs pos="100000">
                              <a:schemeClr val="bg1">
                                <a:lumMod val="75000"/>
                                <a:shade val="100000"/>
                                <a:satMod val="115000"/>
                              </a:schemeClr>
                            </a:gs>
                          </a:gsLst>
                          <a:path path="circle">
                            <a:fillToRect l="50000" t="50000" r="50000" b="50000"/>
                          </a:path>
                          <a:tileRect/>
                        </a:gra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2400" b="1" dirty="0">
                              <a:solidFill>
                                <a:schemeClr val="tx1"/>
                              </a:solidFill>
                            </a:rPr>
                            <a:t>Mobile Application</a:t>
                          </a:r>
                        </a:p>
                      </p:txBody>
                    </p:sp>
                    <p:sp>
                      <p:nvSpPr>
                        <p:cNvPr id="13" name="Rectangle 12">
                          <a:extLst>
                            <a:ext uri="{FF2B5EF4-FFF2-40B4-BE49-F238E27FC236}">
                              <a16:creationId xmlns:a16="http://schemas.microsoft.com/office/drawing/2014/main" id="{8D95F7EA-84BB-5810-FF2A-4DA9A9CD6C0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001184" y="5894364"/>
                          <a:ext cx="1754156" cy="509583"/>
                        </a:xfrm>
                        <a:prstGeom prst="rect">
                          <a:avLst/>
                        </a:prstGeom>
                        <a:solidFill>
                          <a:schemeClr val="bg1">
                            <a:lumMod val="95000"/>
                          </a:schemeClr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Monitoring System</a:t>
                          </a:r>
                        </a:p>
                      </p:txBody>
                    </p:sp>
                    <p:sp>
                      <p:nvSpPr>
                        <p:cNvPr id="14" name="Rectangle 13">
                          <a:extLst>
                            <a:ext uri="{FF2B5EF4-FFF2-40B4-BE49-F238E27FC236}">
                              <a16:creationId xmlns:a16="http://schemas.microsoft.com/office/drawing/2014/main" id="{0485A316-BADB-5908-0780-82BB6D24AE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628395" y="2276281"/>
                          <a:ext cx="1017037" cy="1017037"/>
                        </a:xfrm>
                        <a:prstGeom prst="rect">
                          <a:avLst/>
                        </a:prstGeom>
                        <a:gradFill flip="none" rotWithShape="1">
                          <a:gsLst>
                            <a:gs pos="0">
                              <a:schemeClr val="accent4">
                                <a:lumMod val="0"/>
                                <a:lumOff val="100000"/>
                              </a:schemeClr>
                            </a:gs>
                            <a:gs pos="35000">
                              <a:schemeClr val="accent4">
                                <a:lumMod val="0"/>
                                <a:lumOff val="100000"/>
                              </a:schemeClr>
                            </a:gs>
                            <a:gs pos="96000">
                              <a:srgbClr val="00B0F0"/>
                            </a:gs>
                          </a:gsLst>
                          <a:path path="circle">
                            <a:fillToRect l="50000" t="-80000" r="50000" b="180000"/>
                          </a:path>
                          <a:tileRect/>
                        </a:gra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User</a:t>
                          </a:r>
                        </a:p>
                      </p:txBody>
                    </p:sp>
                    <p:cxnSp>
                      <p:nvCxnSpPr>
                        <p:cNvPr id="28" name="Straight Arrow Connector 27">
                          <a:extLst>
                            <a:ext uri="{FF2B5EF4-FFF2-40B4-BE49-F238E27FC236}">
                              <a16:creationId xmlns:a16="http://schemas.microsoft.com/office/drawing/2014/main" id="{26A3F6F9-77FC-D3E9-AC68-A4A96F58044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5594144" y="3994096"/>
                          <a:ext cx="550507" cy="0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3" name="Rectangle 52">
                          <a:extLst>
                            <a:ext uri="{FF2B5EF4-FFF2-40B4-BE49-F238E27FC236}">
                              <a16:creationId xmlns:a16="http://schemas.microsoft.com/office/drawing/2014/main" id="{E93EBAC8-0FD2-88DD-D51E-A615140A33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541275" y="4596741"/>
                          <a:ext cx="1540796" cy="56997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Water Level Monitoring</a:t>
                          </a:r>
                        </a:p>
                      </p:txBody>
                    </p:sp>
                    <p:sp>
                      <p:nvSpPr>
                        <p:cNvPr id="50" name="Rectangle 49">
                          <a:extLst>
                            <a:ext uri="{FF2B5EF4-FFF2-40B4-BE49-F238E27FC236}">
                              <a16:creationId xmlns:a16="http://schemas.microsoft.com/office/drawing/2014/main" id="{19DB31F3-7FF7-13B3-A448-4A71EC7EE1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541275" y="3811429"/>
                          <a:ext cx="1540796" cy="56997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TDS Level</a:t>
                          </a:r>
                        </a:p>
                      </p:txBody>
                    </p:sp>
                    <p:sp>
                      <p:nvSpPr>
                        <p:cNvPr id="55" name="Rectangle 54">
                          <a:extLst>
                            <a:ext uri="{FF2B5EF4-FFF2-40B4-BE49-F238E27FC236}">
                              <a16:creationId xmlns:a16="http://schemas.microsoft.com/office/drawing/2014/main" id="{4A33850E-4F8A-33CF-AA12-5C16B92BE02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528235" y="3077606"/>
                          <a:ext cx="1540796" cy="56997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sz="1600" b="1" dirty="0">
                              <a:solidFill>
                                <a:schemeClr val="tx1"/>
                              </a:solidFill>
                            </a:rPr>
                            <a:t>Temperature</a:t>
                          </a:r>
                          <a:endParaRPr lang="en-US" b="1" dirty="0">
                            <a:solidFill>
                              <a:schemeClr val="tx1"/>
                            </a:solidFill>
                          </a:endParaRPr>
                        </a:p>
                      </p:txBody>
                    </p:sp>
                    <p:sp>
                      <p:nvSpPr>
                        <p:cNvPr id="56" name="Rectangle 55">
                          <a:extLst>
                            <a:ext uri="{FF2B5EF4-FFF2-40B4-BE49-F238E27FC236}">
                              <a16:creationId xmlns:a16="http://schemas.microsoft.com/office/drawing/2014/main" id="{24E69077-7985-5111-4D3D-403C2DA0A2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528235" y="2252327"/>
                          <a:ext cx="1540796" cy="56997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n w="190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chemeClr val="tx1"/>
                              </a:solidFill>
                            </a:rPr>
                            <a:t>PH Level</a:t>
                          </a:r>
                        </a:p>
                      </p:txBody>
                    </p:sp>
                    <p:cxnSp>
                      <p:nvCxnSpPr>
                        <p:cNvPr id="59" name="Straight Connector 58">
                          <a:extLst>
                            <a:ext uri="{FF2B5EF4-FFF2-40B4-BE49-F238E27FC236}">
                              <a16:creationId xmlns:a16="http://schemas.microsoft.com/office/drawing/2014/main" id="{CBD9E85A-1DB8-084E-8150-E7FBB9FA12F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9212840" y="2537314"/>
                          <a:ext cx="14147" cy="3357050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2" name="Straight Arrow Connector 61">
                          <a:extLst>
                            <a:ext uri="{FF2B5EF4-FFF2-40B4-BE49-F238E27FC236}">
                              <a16:creationId xmlns:a16="http://schemas.microsoft.com/office/drawing/2014/main" id="{A33A847C-68C4-3EE0-DC54-AF00D72F8848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9212839" y="2580743"/>
                          <a:ext cx="315395" cy="9010"/>
                        </a:xfrm>
                        <a:prstGeom prst="straightConnector1">
                          <a:avLst/>
                        </a:prstGeom>
                        <a:ln w="3810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67" name="Straight Arrow Connector 66">
                          <a:extLst>
                            <a:ext uri="{FF2B5EF4-FFF2-40B4-BE49-F238E27FC236}">
                              <a16:creationId xmlns:a16="http://schemas.microsoft.com/office/drawing/2014/main" id="{4EA4DF0F-8D96-39E9-5EAE-272551553FB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9226987" y="3307855"/>
                          <a:ext cx="315395" cy="9010"/>
                        </a:xfrm>
                        <a:prstGeom prst="straightConnector1">
                          <a:avLst/>
                        </a:prstGeom>
                        <a:ln w="38100"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73" name="Straight Arrow Connector 72">
                          <a:extLst>
                            <a:ext uri="{FF2B5EF4-FFF2-40B4-BE49-F238E27FC236}">
                              <a16:creationId xmlns:a16="http://schemas.microsoft.com/office/drawing/2014/main" id="{6E3C5185-0148-6E31-BF55-CD0844C6AF4F}"/>
                            </a:ext>
                          </a:extLst>
                        </p:cNvPr>
                        <p:cNvCxnSpPr>
                          <a:cxnSpLocks/>
                          <a:stCxn id="14" idx="2"/>
                          <a:endCxn id="12" idx="0"/>
                        </p:cNvCxnSpPr>
                        <p:nvPr/>
                      </p:nvCxnSpPr>
                      <p:spPr>
                        <a:xfrm>
                          <a:off x="7136914" y="3293318"/>
                          <a:ext cx="1447" cy="448001"/>
                        </a:xfrm>
                        <a:prstGeom prst="straightConnector1">
                          <a:avLst/>
                        </a:prstGeom>
                        <a:ln w="19050">
                          <a:headEnd type="triangle"/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8" name="Straight Arrow Connector 37">
                          <a:extLst>
                            <a:ext uri="{FF2B5EF4-FFF2-40B4-BE49-F238E27FC236}">
                              <a16:creationId xmlns:a16="http://schemas.microsoft.com/office/drawing/2014/main" id="{453E46F1-4BFF-F0B4-F4A7-C3C41E59D524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9236654" y="5493607"/>
                          <a:ext cx="291580" cy="22466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9" name="Straight Arrow Connector 38">
                          <a:extLst>
                            <a:ext uri="{FF2B5EF4-FFF2-40B4-BE49-F238E27FC236}">
                              <a16:creationId xmlns:a16="http://schemas.microsoft.com/office/drawing/2014/main" id="{CD8D7BEA-2151-2F84-39F4-18433407105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8132071" y="4078737"/>
                          <a:ext cx="388474" cy="0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9" name="Straight Connector 48">
                          <a:extLst>
                            <a:ext uri="{FF2B5EF4-FFF2-40B4-BE49-F238E27FC236}">
                              <a16:creationId xmlns:a16="http://schemas.microsoft.com/office/drawing/2014/main" id="{13285630-894A-A048-95D2-0D8449EA224B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8544358" y="4078737"/>
                          <a:ext cx="0" cy="2070418"/>
                        </a:xfrm>
                        <a:prstGeom prst="line">
                          <a:avLst/>
                        </a:prstGeom>
                        <a:ln w="38100">
                          <a:solidFill>
                            <a:schemeClr val="tx1"/>
                          </a:solidFill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20" name="Straight Arrow Connector 19">
                        <a:extLst>
                          <a:ext uri="{FF2B5EF4-FFF2-40B4-BE49-F238E27FC236}">
                            <a16:creationId xmlns:a16="http://schemas.microsoft.com/office/drawing/2014/main" id="{6AA358F1-D099-6F1F-839D-D6804CE8337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8513474" y="4001613"/>
                        <a:ext cx="480639" cy="0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</p:grp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42159909-CE46-C12F-DA5A-0D4FBA0070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03975" y="6214003"/>
                  <a:ext cx="4119711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90B7AAFC-27E2-CA02-5B58-15A316A22F38}"/>
                    </a:ext>
                  </a:extLst>
                </p:cNvPr>
                <p:cNvCxnSpPr/>
                <p:nvPr/>
              </p:nvCxnSpPr>
              <p:spPr>
                <a:xfrm flipV="1">
                  <a:off x="4703975" y="6095562"/>
                  <a:ext cx="0" cy="11844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70469FBA-2102-97CC-1B7A-4E7BC9A18F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7000" y="5160819"/>
                  <a:ext cx="559833" cy="3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4C99977C-FF93-414A-121E-557E0007E1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0506" y="2525057"/>
                  <a:ext cx="6121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2404EE3F-331F-749A-5787-C31A3A9423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0506" y="1168151"/>
                  <a:ext cx="680458" cy="17288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A9B9739E-0E17-4DE1-C8C2-F78C454F54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2921" y="3713226"/>
                  <a:ext cx="271860" cy="3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7D1F0313-D523-428C-8B91-4E8206CF26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82627" y="1173141"/>
                  <a:ext cx="4373" cy="5239418"/>
                </a:xfrm>
                <a:prstGeom prst="line">
                  <a:avLst/>
                </a:prstGeom>
                <a:ln/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46245F7A-04BD-66E6-556D-DB826C0902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00506" y="6438731"/>
                  <a:ext cx="3428594" cy="10637"/>
                </a:xfrm>
                <a:prstGeom prst="line">
                  <a:avLst/>
                </a:prstGeom>
                <a:ln/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Arrow Connector 108">
                  <a:extLst>
                    <a:ext uri="{FF2B5EF4-FFF2-40B4-BE49-F238E27FC236}">
                      <a16:creationId xmlns:a16="http://schemas.microsoft.com/office/drawing/2014/main" id="{AB5C4E4C-373C-3CD9-59C5-A79D8C938D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992023" y="1846554"/>
                  <a:ext cx="595050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927934C2-AFF7-C17D-E4F1-7222789DBF0E}"/>
                    </a:ext>
                  </a:extLst>
                </p:cNvPr>
                <p:cNvSpPr/>
                <p:nvPr/>
              </p:nvSpPr>
              <p:spPr>
                <a:xfrm>
                  <a:off x="5862326" y="2703140"/>
                  <a:ext cx="922723" cy="671804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5">
                        <a:lumMod val="67000"/>
                      </a:schemeClr>
                    </a:gs>
                    <a:gs pos="48000">
                      <a:schemeClr val="accent5">
                        <a:lumMod val="97000"/>
                        <a:lumOff val="3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</a:rPr>
                    <a:t>Relay </a:t>
                  </a:r>
                </a:p>
                <a:p>
                  <a:pPr algn="ctr"/>
                  <a:r>
                    <a:rPr lang="en-US" sz="1600" b="1" dirty="0">
                      <a:solidFill>
                        <a:schemeClr val="tx1"/>
                      </a:solidFill>
                    </a:rPr>
                    <a:t>Module</a:t>
                  </a:r>
                </a:p>
              </p:txBody>
            </p:sp>
            <p:cxnSp>
              <p:nvCxnSpPr>
                <p:cNvPr id="118" name="Straight Arrow Connector 117">
                  <a:extLst>
                    <a:ext uri="{FF2B5EF4-FFF2-40B4-BE49-F238E27FC236}">
                      <a16:creationId xmlns:a16="http://schemas.microsoft.com/office/drawing/2014/main" id="{30C355CD-7187-AAAB-B1CA-1B9EA48242CB}"/>
                    </a:ext>
                  </a:extLst>
                </p:cNvPr>
                <p:cNvCxnSpPr/>
                <p:nvPr/>
              </p:nvCxnSpPr>
              <p:spPr>
                <a:xfrm flipV="1">
                  <a:off x="5043639" y="3062796"/>
                  <a:ext cx="798228" cy="10314"/>
                </a:xfrm>
                <a:prstGeom prst="straightConnector1">
                  <a:avLst/>
                </a:prstGeom>
                <a:gradFill flip="none" rotWithShape="1">
                  <a:gsLst>
                    <a:gs pos="0">
                      <a:schemeClr val="accent2">
                        <a:lumMod val="67000"/>
                      </a:schemeClr>
                    </a:gs>
                    <a:gs pos="48000">
                      <a:schemeClr val="accent2">
                        <a:lumMod val="97000"/>
                        <a:lumOff val="3000"/>
                      </a:schemeClr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58B68EA0-325C-06B5-A8EC-B40D2E9DC5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467546" y="4600280"/>
                  <a:ext cx="0" cy="704718"/>
                </a:xfrm>
                <a:prstGeom prst="line">
                  <a:avLst/>
                </a:prstGeom>
                <a:ln/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FF159B4E-BEC4-E574-C582-82117FF9B2E3}"/>
                    </a:ext>
                  </a:extLst>
                </p:cNvPr>
                <p:cNvSpPr/>
                <p:nvPr/>
              </p:nvSpPr>
              <p:spPr>
                <a:xfrm>
                  <a:off x="11069030" y="3517904"/>
                  <a:ext cx="520623" cy="53854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39997E59-1167-DCFE-2020-CD063EC62C05}"/>
                    </a:ext>
                  </a:extLst>
                </p:cNvPr>
                <p:cNvSpPr/>
                <p:nvPr/>
              </p:nvSpPr>
              <p:spPr>
                <a:xfrm>
                  <a:off x="11121347" y="3563673"/>
                  <a:ext cx="288026" cy="321089"/>
                </a:xfrm>
                <a:custGeom>
                  <a:avLst/>
                  <a:gdLst>
                    <a:gd name="connsiteX0" fmla="*/ 0 w 471340"/>
                    <a:gd name="connsiteY0" fmla="*/ 650476 h 650476"/>
                    <a:gd name="connsiteX1" fmla="*/ 207389 w 471340"/>
                    <a:gd name="connsiteY1" fmla="*/ 26 h 650476"/>
                    <a:gd name="connsiteX2" fmla="*/ 414779 w 471340"/>
                    <a:gd name="connsiteY2" fmla="*/ 622196 h 650476"/>
                    <a:gd name="connsiteX3" fmla="*/ 471340 w 471340"/>
                    <a:gd name="connsiteY3" fmla="*/ 37734 h 650476"/>
                    <a:gd name="connsiteX4" fmla="*/ 471340 w 471340"/>
                    <a:gd name="connsiteY4" fmla="*/ 37734 h 650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1340" h="650476">
                      <a:moveTo>
                        <a:pt x="0" y="650476"/>
                      </a:moveTo>
                      <a:cubicBezTo>
                        <a:pt x="69129" y="327607"/>
                        <a:pt x="138259" y="4739"/>
                        <a:pt x="207389" y="26"/>
                      </a:cubicBezTo>
                      <a:cubicBezTo>
                        <a:pt x="276519" y="-4687"/>
                        <a:pt x="370787" y="615911"/>
                        <a:pt x="414779" y="622196"/>
                      </a:cubicBezTo>
                      <a:cubicBezTo>
                        <a:pt x="458771" y="628481"/>
                        <a:pt x="471340" y="37734"/>
                        <a:pt x="471340" y="37734"/>
                      </a:cubicBezTo>
                      <a:lnTo>
                        <a:pt x="471340" y="37734"/>
                      </a:lnTo>
                    </a:path>
                  </a:pathLst>
                </a:cu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69" name="Group 168">
                  <a:extLst>
                    <a:ext uri="{FF2B5EF4-FFF2-40B4-BE49-F238E27FC236}">
                      <a16:creationId xmlns:a16="http://schemas.microsoft.com/office/drawing/2014/main" id="{55691C53-F22E-2229-1829-767441134F7F}"/>
                    </a:ext>
                  </a:extLst>
                </p:cNvPr>
                <p:cNvGrpSpPr/>
                <p:nvPr/>
              </p:nvGrpSpPr>
              <p:grpSpPr>
                <a:xfrm>
                  <a:off x="6323688" y="3374943"/>
                  <a:ext cx="5067805" cy="899269"/>
                  <a:chOff x="6323688" y="3374943"/>
                  <a:chExt cx="5067805" cy="899269"/>
                </a:xfrm>
              </p:grpSpPr>
              <p:cxnSp>
                <p:nvCxnSpPr>
                  <p:cNvPr id="153" name="Connector: Elbow 152">
                    <a:extLst>
                      <a:ext uri="{FF2B5EF4-FFF2-40B4-BE49-F238E27FC236}">
                        <a16:creationId xmlns:a16="http://schemas.microsoft.com/office/drawing/2014/main" id="{748310DC-7265-4F2C-05F0-F6F18BDA81F6}"/>
                      </a:ext>
                    </a:extLst>
                  </p:cNvPr>
                  <p:cNvCxnSpPr>
                    <a:cxnSpLocks/>
                    <a:stCxn id="116" idx="2"/>
                  </p:cNvCxnSpPr>
                  <p:nvPr/>
                </p:nvCxnSpPr>
                <p:spPr>
                  <a:xfrm rot="16200000" flipH="1">
                    <a:off x="6542784" y="3155847"/>
                    <a:ext cx="619683" cy="1057875"/>
                  </a:xfrm>
                  <a:prstGeom prst="bentConnector2">
                    <a:avLst/>
                  </a:prstGeom>
                  <a:ln w="19050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Connector: Elbow 158">
                    <a:extLst>
                      <a:ext uri="{FF2B5EF4-FFF2-40B4-BE49-F238E27FC236}">
                        <a16:creationId xmlns:a16="http://schemas.microsoft.com/office/drawing/2014/main" id="{CF398AE2-9E60-2302-66E7-6629BBC799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66472" y="3983392"/>
                    <a:ext cx="1475385" cy="290820"/>
                  </a:xfrm>
                  <a:prstGeom prst="bentConnector3">
                    <a:avLst/>
                  </a:prstGeom>
                  <a:ln w="19050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3AE021F5-C87E-BF08-BBAA-F24AA3B8F398}"/>
                      </a:ext>
                    </a:extLst>
                  </p:cNvPr>
                  <p:cNvCxnSpPr/>
                  <p:nvPr/>
                </p:nvCxnSpPr>
                <p:spPr>
                  <a:xfrm>
                    <a:off x="8803621" y="4274212"/>
                    <a:ext cx="2587872" cy="0"/>
                  </a:xfrm>
                  <a:prstGeom prst="line">
                    <a:avLst/>
                  </a:prstGeom>
                  <a:ln w="19050" cap="flat" cmpd="sng" algn="ctr">
                    <a:solidFill>
                      <a:srgbClr val="FF00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EDF736DC-9CA7-3766-F307-D7AC986DCC21}"/>
                    </a:ext>
                  </a:extLst>
                </p:cNvPr>
                <p:cNvCxnSpPr>
                  <a:cxnSpLocks/>
                  <a:endCxn id="143" idx="0"/>
                </p:cNvCxnSpPr>
                <p:nvPr/>
              </p:nvCxnSpPr>
              <p:spPr>
                <a:xfrm>
                  <a:off x="11329341" y="2621186"/>
                  <a:ext cx="1" cy="896718"/>
                </a:xfrm>
                <a:prstGeom prst="line">
                  <a:avLst/>
                </a:prstGeom>
                <a:ln w="19050" cap="flat" cmpd="sng" algn="ctr">
                  <a:solidFill>
                    <a:srgbClr val="FF0000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grpSp>
              <p:nvGrpSpPr>
                <p:cNvPr id="170" name="Group 169">
                  <a:extLst>
                    <a:ext uri="{FF2B5EF4-FFF2-40B4-BE49-F238E27FC236}">
                      <a16:creationId xmlns:a16="http://schemas.microsoft.com/office/drawing/2014/main" id="{41E535EF-CC47-8DB5-7EC3-3F43C49295C9}"/>
                    </a:ext>
                  </a:extLst>
                </p:cNvPr>
                <p:cNvGrpSpPr/>
                <p:nvPr/>
              </p:nvGrpSpPr>
              <p:grpSpPr>
                <a:xfrm>
                  <a:off x="6525332" y="3295230"/>
                  <a:ext cx="4280485" cy="918839"/>
                  <a:chOff x="6323688" y="3374943"/>
                  <a:chExt cx="5067805" cy="899269"/>
                </a:xfrm>
              </p:grpSpPr>
              <p:cxnSp>
                <p:nvCxnSpPr>
                  <p:cNvPr id="171" name="Connector: Elbow 170">
                    <a:extLst>
                      <a:ext uri="{FF2B5EF4-FFF2-40B4-BE49-F238E27FC236}">
                        <a16:creationId xmlns:a16="http://schemas.microsoft.com/office/drawing/2014/main" id="{D3240064-9BDD-9EDC-6B73-027842276C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6542784" y="3155847"/>
                    <a:ext cx="619683" cy="1057875"/>
                  </a:xfrm>
                  <a:prstGeom prst="bentConnector2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Connector: Elbow 171">
                    <a:extLst>
                      <a:ext uri="{FF2B5EF4-FFF2-40B4-BE49-F238E27FC236}">
                        <a16:creationId xmlns:a16="http://schemas.microsoft.com/office/drawing/2014/main" id="{CCF6FF52-FA31-9F0B-8584-765F90EC7C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366472" y="3983392"/>
                    <a:ext cx="1475385" cy="290820"/>
                  </a:xfrm>
                  <a:prstGeom prst="bentConnector3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F2834CE9-137A-05E7-A7F5-9F4674D39ED7}"/>
                      </a:ext>
                    </a:extLst>
                  </p:cNvPr>
                  <p:cNvCxnSpPr/>
                  <p:nvPr/>
                </p:nvCxnSpPr>
                <p:spPr>
                  <a:xfrm>
                    <a:off x="8803621" y="4274212"/>
                    <a:ext cx="2587872" cy="0"/>
                  </a:xfrm>
                  <a:prstGeom prst="line">
                    <a:avLst/>
                  </a:prstGeom>
                  <a:ln w="19050" cap="flat" cmpd="sng" algn="ctr">
                    <a:solidFill>
                      <a:schemeClr val="dk1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6BEA2700-8CCB-6C46-CB89-50413F7E6C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795149" y="2276062"/>
                  <a:ext cx="10668" cy="1934197"/>
                </a:xfrm>
                <a:prstGeom prst="line">
                  <a:avLst/>
                </a:prstGeom>
                <a:ln w="19050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Connector: Elbow 185">
                  <a:extLst>
                    <a:ext uri="{FF2B5EF4-FFF2-40B4-BE49-F238E27FC236}">
                      <a16:creationId xmlns:a16="http://schemas.microsoft.com/office/drawing/2014/main" id="{4777DD69-4AE9-E85D-6BC6-B1AB948C59F9}"/>
                    </a:ext>
                  </a:extLst>
                </p:cNvPr>
                <p:cNvCxnSpPr>
                  <a:cxnSpLocks/>
                  <a:stCxn id="143" idx="6"/>
                </p:cNvCxnSpPr>
                <p:nvPr/>
              </p:nvCxnSpPr>
              <p:spPr>
                <a:xfrm>
                  <a:off x="11589653" y="3787176"/>
                  <a:ext cx="179254" cy="689881"/>
                </a:xfrm>
                <a:prstGeom prst="bent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6"/>
                </a:lnRef>
                <a:fillRef idx="0">
                  <a:schemeClr val="accent6"/>
                </a:fillRef>
                <a:effectRef idx="1">
                  <a:schemeClr val="accent6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D12437-CF11-B074-91DA-1E224DDB5F41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8799169" y="5347968"/>
            <a:ext cx="0" cy="866424"/>
          </a:xfrm>
          <a:prstGeom prst="straightConnector1">
            <a:avLst/>
          </a:prstGeom>
          <a:gradFill flip="none" rotWithShape="1">
            <a:gsLst>
              <a:gs pos="0">
                <a:schemeClr val="bg2"/>
              </a:gs>
              <a:gs pos="100000">
                <a:srgbClr val="FF0000"/>
              </a:gs>
            </a:gsLst>
            <a:path path="circle">
              <a:fillToRect l="50000" t="50000" r="50000" b="50000"/>
            </a:path>
            <a:tileRect/>
          </a:gradFill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Date Placeholder 1">
            <a:extLst>
              <a:ext uri="{FF2B5EF4-FFF2-40B4-BE49-F238E27FC236}">
                <a16:creationId xmlns:a16="http://schemas.microsoft.com/office/drawing/2014/main" id="{B2D25415-1E79-22EA-2F38-5B6CC7D7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194589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168D-B382-922E-3216-7E0E47D4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35" y="190500"/>
            <a:ext cx="9601200" cy="1009650"/>
          </a:xfrm>
        </p:spPr>
        <p:txBody>
          <a:bodyPr>
            <a:normAutofit/>
          </a:bodyPr>
          <a:lstStyle/>
          <a:p>
            <a:r>
              <a:rPr lang="en-US" sz="4800" dirty="0"/>
              <a:t>Components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95391B-E5C8-F628-5878-60F7AA9F5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6FB3A-2926-89C1-882B-35D5D4FC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B00C44-F065-2F60-B9B9-49E069E6B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44" y="1200150"/>
            <a:ext cx="3402456" cy="2641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63113B-4F57-6ACB-95C9-F8DE66B05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937" y="1200150"/>
            <a:ext cx="3402456" cy="26411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EE160A-BC33-B973-73B7-1E9FBCF6A7D1}"/>
              </a:ext>
            </a:extLst>
          </p:cNvPr>
          <p:cNvSpPr txBox="1"/>
          <p:nvPr/>
        </p:nvSpPr>
        <p:spPr>
          <a:xfrm>
            <a:off x="871642" y="3969420"/>
            <a:ext cx="36934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ESP32 Development Board</a:t>
            </a:r>
          </a:p>
          <a:p>
            <a:pPr defTabSz="685800">
              <a:defRPr/>
            </a:pPr>
            <a:endParaRPr lang="en-US" sz="2000" dirty="0"/>
          </a:p>
          <a:p>
            <a:pPr defTabSz="685800">
              <a:defRPr/>
            </a:pPr>
            <a:r>
              <a:rPr lang="en-US" sz="2000" dirty="0"/>
              <a:t>Serves as the central controller to interface with sensors</a:t>
            </a:r>
            <a:endParaRPr lang="en-US" sz="2000" b="1" dirty="0">
              <a:solidFill>
                <a:prstClr val="black"/>
              </a:solidFill>
              <a:latin typeface="Franklin Gothic Book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B66A4A-6524-DDC7-6501-A006BA09C792}"/>
              </a:ext>
            </a:extLst>
          </p:cNvPr>
          <p:cNvSpPr txBox="1"/>
          <p:nvPr/>
        </p:nvSpPr>
        <p:spPr>
          <a:xfrm>
            <a:off x="4655693" y="3969420"/>
            <a:ext cx="369345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TDS Sensor </a:t>
            </a:r>
          </a:p>
          <a:p>
            <a:endParaRPr lang="en-US" sz="2000" dirty="0"/>
          </a:p>
          <a:p>
            <a:r>
              <a:rPr lang="en-US" dirty="0"/>
              <a:t>Measures the total dissolved solids (TDS) in the water, providing insights into the water quality, which is important for the health of the aquarium inhabitants.</a:t>
            </a:r>
            <a:endParaRPr lang="en-US" sz="1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79D3BB-F54F-EF18-EA65-81DD95C64E81}"/>
              </a:ext>
            </a:extLst>
          </p:cNvPr>
          <p:cNvSpPr txBox="1"/>
          <p:nvPr/>
        </p:nvSpPr>
        <p:spPr>
          <a:xfrm>
            <a:off x="8498541" y="4046364"/>
            <a:ext cx="369345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Temperature Sensor(DS18B20)</a:t>
            </a:r>
          </a:p>
          <a:p>
            <a:endParaRPr lang="en-US" sz="2000" dirty="0"/>
          </a:p>
          <a:p>
            <a:r>
              <a:rPr lang="en-US" sz="2000" dirty="0"/>
              <a:t>Monitors the water temperature in the aquarium, allowing for precise control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33D51A-64B5-FE29-5F15-3B9C2C42C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4400" y="1242128"/>
            <a:ext cx="2613047" cy="2599134"/>
          </a:xfrm>
          <a:prstGeom prst="rect">
            <a:avLst/>
          </a:prstGeom>
        </p:spPr>
      </p:pic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07A6C0F-27FD-ED29-F6EC-3EA54DEB1B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1782537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30254-37C6-6DF5-0B7C-F48F883CE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DBB17-1307-ABDB-C24C-A34F62583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12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42AAAE-5C2B-4E81-4BFF-C6DC5549383F}"/>
              </a:ext>
            </a:extLst>
          </p:cNvPr>
          <p:cNvSpPr txBox="1"/>
          <p:nvPr/>
        </p:nvSpPr>
        <p:spPr>
          <a:xfrm>
            <a:off x="946535" y="3957225"/>
            <a:ext cx="3673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Motor Driver(L298N )</a:t>
            </a:r>
          </a:p>
          <a:p>
            <a:endParaRPr lang="en-US" b="1" dirty="0"/>
          </a:p>
          <a:p>
            <a:r>
              <a:rPr lang="en-US" dirty="0"/>
              <a:t>Used to control motors, such as filtration system motor and fish feeding motor</a:t>
            </a:r>
            <a:endParaRPr lang="en-US" b="1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D8C640-B16F-F700-2EB2-2EE428C7567E}"/>
              </a:ext>
            </a:extLst>
          </p:cNvPr>
          <p:cNvSpPr txBox="1"/>
          <p:nvPr/>
        </p:nvSpPr>
        <p:spPr>
          <a:xfrm>
            <a:off x="4751110" y="3957225"/>
            <a:ext cx="40966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>
                <a:solidFill>
                  <a:srgbClr val="212121"/>
                </a:solidFill>
                <a:latin typeface="Roboto" panose="02000000000000000000" pitchFamily="2" charset="0"/>
              </a:rPr>
              <a:t>S</a:t>
            </a:r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tep down module DC – DC(LM2596 )</a:t>
            </a:r>
          </a:p>
          <a:p>
            <a:pPr algn="l"/>
            <a:endParaRPr lang="en-US" sz="1800" dirty="0"/>
          </a:p>
          <a:p>
            <a:r>
              <a:rPr lang="en-US" dirty="0">
                <a:latin typeface="+mj-lt"/>
              </a:rPr>
              <a:t>K</a:t>
            </a:r>
            <a:r>
              <a:rPr lang="en-US" b="0" i="0" dirty="0">
                <a:effectLst/>
                <a:latin typeface="+mj-lt"/>
              </a:rPr>
              <a:t>nown as a step-down converter, is a DC-to-DC converter that reduces voltage while increasing current from its input to its output </a:t>
            </a:r>
            <a:endParaRPr lang="en-US" b="1" dirty="0">
              <a:latin typeface="+mj-lt"/>
            </a:endParaRP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99234E-34DA-92DB-E25B-0EEC75AAC1F3}"/>
              </a:ext>
            </a:extLst>
          </p:cNvPr>
          <p:cNvSpPr txBox="1"/>
          <p:nvPr/>
        </p:nvSpPr>
        <p:spPr>
          <a:xfrm>
            <a:off x="8847753" y="3907350"/>
            <a:ext cx="3221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submersible water pump</a:t>
            </a:r>
            <a:endParaRPr lang="en-US" sz="1800" b="1" dirty="0"/>
          </a:p>
          <a:p>
            <a:endParaRPr lang="en-US" b="1" dirty="0"/>
          </a:p>
          <a:p>
            <a:r>
              <a:rPr lang="en-US" dirty="0"/>
              <a:t>Used in filtration system</a:t>
            </a:r>
          </a:p>
          <a:p>
            <a:r>
              <a:rPr lang="en-US" dirty="0"/>
              <a:t>DC Voltage: 2.5-6V</a:t>
            </a:r>
          </a:p>
          <a:p>
            <a:r>
              <a:rPr lang="en-US" dirty="0"/>
              <a:t>Flow rate: 80-120L/H</a:t>
            </a:r>
          </a:p>
          <a:p>
            <a:endParaRPr lang="en-US" dirty="0"/>
          </a:p>
        </p:txBody>
      </p:sp>
      <p:pic>
        <p:nvPicPr>
          <p:cNvPr id="4098" name="Picture 2" descr="DC Adjustable Step-Down Buck Module">
            <a:extLst>
              <a:ext uri="{FF2B5EF4-FFF2-40B4-BE49-F238E27FC236}">
                <a16:creationId xmlns:a16="http://schemas.microsoft.com/office/drawing/2014/main" id="{77DDA04A-0DE4-0932-5D2B-F49334678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256" y="726526"/>
            <a:ext cx="3188538" cy="28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Motor Driver L298N Module DC Stepper ...">
            <a:extLst>
              <a:ext uri="{FF2B5EF4-FFF2-40B4-BE49-F238E27FC236}">
                <a16:creationId xmlns:a16="http://schemas.microsoft.com/office/drawing/2014/main" id="{DD31168D-1067-3071-CD9F-16D7B1CFD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287" y="726526"/>
            <a:ext cx="3037339" cy="28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rduino 5V Submersible Water Pump ...">
            <a:extLst>
              <a:ext uri="{FF2B5EF4-FFF2-40B4-BE49-F238E27FC236}">
                <a16:creationId xmlns:a16="http://schemas.microsoft.com/office/drawing/2014/main" id="{60AFCADE-8057-59EE-4EE5-EDE4E4468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25" y="711098"/>
            <a:ext cx="2712800" cy="28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21B6B4AB-E980-D7DA-DEDA-2BC46CF4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30022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4CCB5-FFA3-91F1-C339-C69C7FFE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D4FD0-7B4C-EFBF-C60D-1C4CEDCC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Individual Design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EB7CC-E23C-5F7E-F395-A48E1ED1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13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271152-D6C2-E3F7-31B1-E117C52A436C}"/>
              </a:ext>
            </a:extLst>
          </p:cNvPr>
          <p:cNvSpPr txBox="1"/>
          <p:nvPr/>
        </p:nvSpPr>
        <p:spPr>
          <a:xfrm>
            <a:off x="851216" y="4023213"/>
            <a:ext cx="3673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Ultrasonic sensor</a:t>
            </a:r>
          </a:p>
          <a:p>
            <a:endParaRPr lang="en-US" b="1" dirty="0"/>
          </a:p>
          <a:p>
            <a:r>
              <a:rPr lang="en-US" dirty="0"/>
              <a:t>Used to read the water levels</a:t>
            </a:r>
            <a:endParaRPr lang="en-US" b="1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D854D1-DDFF-9C47-AF4B-DA4AE37D0D6A}"/>
              </a:ext>
            </a:extLst>
          </p:cNvPr>
          <p:cNvSpPr txBox="1"/>
          <p:nvPr/>
        </p:nvSpPr>
        <p:spPr>
          <a:xfrm>
            <a:off x="4566875" y="4069380"/>
            <a:ext cx="41190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12V 5A AC TO DC Universal Regulator</a:t>
            </a:r>
          </a:p>
          <a:p>
            <a:pPr algn="l"/>
            <a:endParaRPr lang="en-US" sz="1800" dirty="0"/>
          </a:p>
          <a:p>
            <a:pPr algn="l"/>
            <a:r>
              <a:rPr lang="en-US" dirty="0"/>
              <a:t>providing the necessary power for components.</a:t>
            </a:r>
            <a:endParaRPr lang="en-US" b="1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751D17-E13B-87E1-D745-95526E4C376F}"/>
              </a:ext>
            </a:extLst>
          </p:cNvPr>
          <p:cNvSpPr txBox="1"/>
          <p:nvPr/>
        </p:nvSpPr>
        <p:spPr>
          <a:xfrm>
            <a:off x="8728088" y="3973338"/>
            <a:ext cx="34639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latin typeface="Arial" panose="020B0604020202020204" pitchFamily="34" charset="0"/>
              </a:rPr>
              <a:t>ph</a:t>
            </a:r>
            <a:r>
              <a:rPr lang="en-US" b="1" dirty="0">
                <a:latin typeface="Arial" panose="020B0604020202020204" pitchFamily="34" charset="0"/>
              </a:rPr>
              <a:t> Sensor</a:t>
            </a:r>
            <a:endParaRPr lang="en-US" sz="1800" b="1" dirty="0"/>
          </a:p>
          <a:p>
            <a:endParaRPr lang="en-US" b="1" dirty="0"/>
          </a:p>
          <a:p>
            <a:r>
              <a:rPr lang="en-US" dirty="0"/>
              <a:t>Measures the pH level of the water.</a:t>
            </a:r>
          </a:p>
          <a:p>
            <a:r>
              <a:rPr lang="en-US" dirty="0"/>
              <a:t>Working current: 5-10mA</a:t>
            </a:r>
          </a:p>
          <a:p>
            <a:r>
              <a:rPr lang="en-US" dirty="0"/>
              <a:t>The detection concentration range: PH 0-14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4FB927-9CAB-1999-9C27-3C0AD573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72" y="777086"/>
            <a:ext cx="2796403" cy="3075797"/>
          </a:xfrm>
          <a:prstGeom prst="rect">
            <a:avLst/>
          </a:prstGeom>
        </p:spPr>
      </p:pic>
      <p:pic>
        <p:nvPicPr>
          <p:cNvPr id="5122" name="Picture 2" descr="12V 5A AC TO DC Universal Regulated Switching Power Supply 60W Aluminum  110V 220V to 12v transformer for CCTV Radio Computer Project LED Strip  Lights">
            <a:extLst>
              <a:ext uri="{FF2B5EF4-FFF2-40B4-BE49-F238E27FC236}">
                <a16:creationId xmlns:a16="http://schemas.microsoft.com/office/drawing/2014/main" id="{50C86339-55E7-C5FC-19F5-BE89DD19A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753" y="777086"/>
            <a:ext cx="3554388" cy="3075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H Sensor for Arduino, PH0-14 Value ...">
            <a:extLst>
              <a:ext uri="{FF2B5EF4-FFF2-40B4-BE49-F238E27FC236}">
                <a16:creationId xmlns:a16="http://schemas.microsoft.com/office/drawing/2014/main" id="{1EC76D96-8F23-E1D1-BB8B-67FCF8061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048" y="764073"/>
            <a:ext cx="3091991" cy="3101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808A2E3-FCD1-8051-4DB2-C4B7293EE6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1549674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FEBCE-FB1E-5B1B-36BF-5CAE1E6A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DE3D30-66A3-A720-3FD3-EA0CA25A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2CDBD-9426-0A2B-A06C-A5D94B044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 descr="A computer screen shot of a grey object">
            <a:extLst>
              <a:ext uri="{FF2B5EF4-FFF2-40B4-BE49-F238E27FC236}">
                <a16:creationId xmlns:a16="http://schemas.microsoft.com/office/drawing/2014/main" id="{52F0018B-24E2-578B-A95F-36FB7A1D9F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4" t="15643" r="10858" b="9805"/>
          <a:stretch/>
        </p:blipFill>
        <p:spPr>
          <a:xfrm>
            <a:off x="2103120" y="4239890"/>
            <a:ext cx="3383614" cy="2121542"/>
          </a:xfrm>
          <a:prstGeom prst="rect">
            <a:avLst/>
          </a:prstGeom>
        </p:spPr>
      </p:pic>
      <p:pic>
        <p:nvPicPr>
          <p:cNvPr id="10" name="Picture 9" descr="A machine with wires and wires&#10;&#10;AI-generated content may be incorrect.">
            <a:extLst>
              <a:ext uri="{FF2B5EF4-FFF2-40B4-BE49-F238E27FC236}">
                <a16:creationId xmlns:a16="http://schemas.microsoft.com/office/drawing/2014/main" id="{AC4F8CC4-6BCB-113B-2F9D-9E4336A93C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630" y="1701800"/>
            <a:ext cx="4465609" cy="2971800"/>
          </a:xfrm>
          <a:prstGeom prst="rect">
            <a:avLst/>
          </a:prstGeom>
        </p:spPr>
      </p:pic>
      <p:pic>
        <p:nvPicPr>
          <p:cNvPr id="12" name="Picture 11" descr="A computer screen shot of a machine">
            <a:extLst>
              <a:ext uri="{FF2B5EF4-FFF2-40B4-BE49-F238E27FC236}">
                <a16:creationId xmlns:a16="http://schemas.microsoft.com/office/drawing/2014/main" id="{DA58D58B-4A5D-5DE9-F683-C99BADD7195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50" t="23693" r="13200" b="10058"/>
          <a:stretch/>
        </p:blipFill>
        <p:spPr>
          <a:xfrm>
            <a:off x="1357416" y="1482635"/>
            <a:ext cx="5272630" cy="275725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ABBCF113-103F-D632-2C1D-D3FEEC077BE9}"/>
              </a:ext>
            </a:extLst>
          </p:cNvPr>
          <p:cNvSpPr txBox="1">
            <a:spLocks/>
          </p:cNvSpPr>
          <p:nvPr/>
        </p:nvSpPr>
        <p:spPr>
          <a:xfrm>
            <a:off x="1060584" y="496568"/>
            <a:ext cx="9601200" cy="8282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Century" panose="02040604050505020304" pitchFamily="18" charset="0"/>
              </a:rPr>
              <a:t>Design of the Filter(prototype)</a:t>
            </a:r>
          </a:p>
        </p:txBody>
      </p:sp>
    </p:spTree>
    <p:extLst>
      <p:ext uri="{BB962C8B-B14F-4D97-AF65-F5344CB8AC3E}">
        <p14:creationId xmlns:p14="http://schemas.microsoft.com/office/powerpoint/2010/main" val="412353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BA637B-2385-C05C-53EE-58E8E5C81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C4496-A6CF-F108-7C55-C76FF8D79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5E92F-F5A3-99A5-CE3D-EA962962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 descr="A computer screen shot of a box&#10;&#10;AI-generated content may be incorrect.">
            <a:extLst>
              <a:ext uri="{FF2B5EF4-FFF2-40B4-BE49-F238E27FC236}">
                <a16:creationId xmlns:a16="http://schemas.microsoft.com/office/drawing/2014/main" id="{A0A5A6F3-2115-D9FE-6DB9-503C9F239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50" t="20729" r="15000" b="13911"/>
          <a:stretch/>
        </p:blipFill>
        <p:spPr>
          <a:xfrm>
            <a:off x="1233384" y="1209139"/>
            <a:ext cx="3730718" cy="2459263"/>
          </a:xfrm>
          <a:prstGeom prst="rect">
            <a:avLst/>
          </a:prstGeom>
        </p:spPr>
      </p:pic>
      <p:pic>
        <p:nvPicPr>
          <p:cNvPr id="9" name="Picture 8" descr="A computer screen shot of a box">
            <a:extLst>
              <a:ext uri="{FF2B5EF4-FFF2-40B4-BE49-F238E27FC236}">
                <a16:creationId xmlns:a16="http://schemas.microsoft.com/office/drawing/2014/main" id="{7D2B4A4A-C39F-70E6-FF37-7F223EE8AB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1" t="20729" r="22304" b="10502"/>
          <a:stretch/>
        </p:blipFill>
        <p:spPr>
          <a:xfrm>
            <a:off x="6522720" y="1091043"/>
            <a:ext cx="3935539" cy="2577359"/>
          </a:xfrm>
          <a:prstGeom prst="rect">
            <a:avLst/>
          </a:prstGeom>
        </p:spPr>
      </p:pic>
      <p:pic>
        <p:nvPicPr>
          <p:cNvPr id="11" name="Picture 10" descr="A box with wires and a circuit board">
            <a:extLst>
              <a:ext uri="{FF2B5EF4-FFF2-40B4-BE49-F238E27FC236}">
                <a16:creationId xmlns:a16="http://schemas.microsoft.com/office/drawing/2014/main" id="{F02CE268-58DC-958A-9FF0-15100B6802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8" t="14707" r="4329" b="4434"/>
          <a:stretch/>
        </p:blipFill>
        <p:spPr>
          <a:xfrm>
            <a:off x="4892982" y="3799840"/>
            <a:ext cx="3935540" cy="265354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C3FF9F9-6CCE-4EFB-8273-1534E69B74E3}"/>
              </a:ext>
            </a:extLst>
          </p:cNvPr>
          <p:cNvSpPr txBox="1">
            <a:spLocks/>
          </p:cNvSpPr>
          <p:nvPr/>
        </p:nvSpPr>
        <p:spPr>
          <a:xfrm>
            <a:off x="1131704" y="272325"/>
            <a:ext cx="9601200" cy="8282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latin typeface="Century" panose="02040604050505020304" pitchFamily="18" charset="0"/>
              </a:rPr>
              <a:t>Design of the Enclosure Box</a:t>
            </a:r>
          </a:p>
        </p:txBody>
      </p:sp>
    </p:spTree>
    <p:extLst>
      <p:ext uri="{BB962C8B-B14F-4D97-AF65-F5344CB8AC3E}">
        <p14:creationId xmlns:p14="http://schemas.microsoft.com/office/powerpoint/2010/main" val="3659327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2F2A-8E2A-68B6-ECA6-986E591CD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74E3B-B475-3935-6C90-3D9D91904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218" y="197427"/>
            <a:ext cx="9601200" cy="1485900"/>
          </a:xfrm>
        </p:spPr>
        <p:txBody>
          <a:bodyPr anchor="t">
            <a:normAutofit/>
          </a:bodyPr>
          <a:lstStyle/>
          <a:p>
            <a:r>
              <a:rPr lang="en-GB" dirty="0"/>
              <a:t>Results </a:t>
            </a:r>
            <a:r>
              <a:rPr lang="en-GB" dirty="0">
                <a:latin typeface="Century" panose="02040604050505020304" pitchFamily="18" charset="0"/>
              </a:rPr>
              <a:t>and Discussion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E5C11-0B31-B37A-68C6-3BEF9119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3569" y="6453386"/>
            <a:ext cx="6280831" cy="4046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Individual Design Project 2024/2025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E80BD-D084-5EEB-3381-C06D3FE68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2739" y="6453386"/>
            <a:ext cx="1596292" cy="40461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9DACFC-88C4-41F1-9CCA-CC7DE6A62343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7365703A-7B0F-F0A1-2107-1A65E4BD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6BC36-8E8D-338C-D3DD-31B224433CBC}"/>
              </a:ext>
            </a:extLst>
          </p:cNvPr>
          <p:cNvSpPr txBox="1"/>
          <p:nvPr/>
        </p:nvSpPr>
        <p:spPr>
          <a:xfrm>
            <a:off x="1390650" y="115645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User Interface: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C108E8-FDD3-5211-DF78-2E0A1427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1683327"/>
            <a:ext cx="9997440" cy="448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0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26015-7834-D8E4-0C63-70543A9C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24-Jul-23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B0242-8A4E-DFD9-0BA9-1F219C29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0B1EA-046C-3BEA-295B-C59564737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F20FC0-2016-1794-8B82-D3B9AAA225CD}"/>
              </a:ext>
            </a:extLst>
          </p:cNvPr>
          <p:cNvSpPr txBox="1"/>
          <p:nvPr/>
        </p:nvSpPr>
        <p:spPr>
          <a:xfrm>
            <a:off x="1357416" y="1443841"/>
            <a:ext cx="1065170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Limited Water Quality factors: Other critical factors like ammonia, nitrite, nitrate, and dissolved oxygen are not monitored by the existing system, which only keeps track of temperature, pH, TDS, and water level. </a:t>
            </a:r>
          </a:p>
          <a:p>
            <a:pPr marL="342900" indent="-342900">
              <a:buAutoNum type="arabicPeriod"/>
            </a:pPr>
            <a:r>
              <a:rPr lang="en-US" sz="2000" dirty="0"/>
              <a:t> Requirement for Manual Calibration: In order to preserve accuracy, sensors especially the pH sensor need to be manually calibrated on a regular basis. This still requires some user involvement. </a:t>
            </a:r>
          </a:p>
          <a:p>
            <a:pPr marL="342900" indent="-342900">
              <a:buAutoNum type="arabicPeriod"/>
            </a:pPr>
            <a:r>
              <a:rPr lang="en-US" sz="2000" dirty="0"/>
              <a:t>Fixed Feeding Mechanism: As fish populations fluctuate, the existing feeding system may result in underfeeding or overfeeding because it dispenses fixed amounts of food and is not responsive to fish activity or growth. </a:t>
            </a:r>
          </a:p>
          <a:p>
            <a:pPr marL="342900" indent="-342900">
              <a:buAutoNum type="arabicPeriod"/>
            </a:pPr>
            <a:r>
              <a:rPr lang="en-US" sz="2000" dirty="0"/>
              <a:t>Power Dependency: Without a backup power system, the system is susceptible to power outages because it depends on a constant power 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E05AF9-69DD-68D3-45E0-DBE70DDCC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411480"/>
            <a:ext cx="9601200" cy="828207"/>
          </a:xfrm>
        </p:spPr>
        <p:txBody>
          <a:bodyPr>
            <a:normAutofit/>
          </a:bodyPr>
          <a:lstStyle/>
          <a:p>
            <a:r>
              <a:rPr lang="en-GB" dirty="0">
                <a:latin typeface="Century" panose="020406040505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2384835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6BBD1-251D-D13D-8976-546969D8A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CD70-B9E1-6072-2C66-CEE44237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8207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Century" panose="02040604050505020304" pitchFamily="18" charset="0"/>
              </a:rPr>
              <a:t>Problems Encountered and Solutions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FF6A1-4FCD-AF51-E959-90A20A4A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 2024/2025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759F9-D4AE-8BFD-4851-A3A4D245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0994BFF-4FDA-4B05-0D1C-AAAEE5E121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7808496"/>
              </p:ext>
            </p:extLst>
          </p:nvPr>
        </p:nvGraphicFramePr>
        <p:xfrm>
          <a:off x="956821" y="1514007"/>
          <a:ext cx="10958660" cy="439013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28316">
                  <a:extLst>
                    <a:ext uri="{9D8B030D-6E8A-4147-A177-3AD203B41FA5}">
                      <a16:colId xmlns:a16="http://schemas.microsoft.com/office/drawing/2014/main" val="2857118540"/>
                    </a:ext>
                  </a:extLst>
                </a:gridCol>
                <a:gridCol w="4065172">
                  <a:extLst>
                    <a:ext uri="{9D8B030D-6E8A-4147-A177-3AD203B41FA5}">
                      <a16:colId xmlns:a16="http://schemas.microsoft.com/office/drawing/2014/main" val="824767671"/>
                    </a:ext>
                  </a:extLst>
                </a:gridCol>
                <a:gridCol w="4065172">
                  <a:extLst>
                    <a:ext uri="{9D8B030D-6E8A-4147-A177-3AD203B41FA5}">
                      <a16:colId xmlns:a16="http://schemas.microsoft.com/office/drawing/2014/main" val="3171952027"/>
                    </a:ext>
                  </a:extLst>
                </a:gridCol>
              </a:tblGrid>
              <a:tr h="48726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Problem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Details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Solution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34216"/>
                  </a:ext>
                </a:extLst>
              </a:tr>
              <a:tr h="975717">
                <a:tc>
                  <a:txBody>
                    <a:bodyPr/>
                    <a:lstStyle/>
                    <a:p>
                      <a:r>
                        <a:rPr lang="en-US" sz="1600" b="1" dirty="0"/>
                        <a:t>Port not detected in Arduino IDE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ESP32 wasn’t appearing in the available ports list, causing upload failures.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Reinstall the CP210x drivers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468708"/>
                  </a:ext>
                </a:extLst>
              </a:tr>
              <a:tr h="975717">
                <a:tc>
                  <a:txBody>
                    <a:bodyPr/>
                    <a:lstStyle/>
                    <a:p>
                      <a:r>
                        <a:rPr lang="en-US" sz="1600" b="1" dirty="0"/>
                        <a:t>No DS18B20 Sensor Detected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sensor is not found when running detection code.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Try a different GPIO pin (4, 5, 14, or 15) and enable INPUT_PULLUP. Check if the sensor works with the microcontroller.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805353"/>
                  </a:ext>
                </a:extLst>
              </a:tr>
              <a:tr h="975717">
                <a:tc>
                  <a:txBody>
                    <a:bodyPr/>
                    <a:lstStyle/>
                    <a:p>
                      <a:r>
                        <a:rPr lang="en-US" sz="1600" b="1" dirty="0"/>
                        <a:t>Unstable Wi-Fi connectivity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Frequent disconnections from the local network during testing.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Updated the ESP32 firmware for better performance.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3974229"/>
                  </a:ext>
                </a:extLst>
              </a:tr>
              <a:tr h="975717">
                <a:tc>
                  <a:txBody>
                    <a:bodyPr/>
                    <a:lstStyle/>
                    <a:p>
                      <a:r>
                        <a:rPr lang="en-US" sz="1600" b="1" dirty="0"/>
                        <a:t>ESP32 fails to connect to Blynk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ESP32 continuously tries to connect but shows a "Login timeout" message.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Verify Wi-Fi SSID and password. Ensure the network is 2.4 GHz.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6029627"/>
                  </a:ext>
                </a:extLst>
              </a:tr>
            </a:tbl>
          </a:graphicData>
        </a:graphic>
      </p:graphicFrame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92770131-2976-CDE6-AA50-06331E1F07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2217837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FA20A-38F8-5548-0808-8B361CCD2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CFC3-ED97-0979-23F8-F45CF942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28207"/>
          </a:xfrm>
        </p:spPr>
        <p:txBody>
          <a:bodyPr/>
          <a:lstStyle/>
          <a:p>
            <a:r>
              <a:rPr lang="en-GB" dirty="0">
                <a:latin typeface="Century" panose="02040604050505020304" pitchFamily="18" charset="0"/>
              </a:rPr>
              <a:t>Cost Estimation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E36A020-95B1-1B4D-00CE-A40BE20A3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831487"/>
              </p:ext>
            </p:extLst>
          </p:nvPr>
        </p:nvGraphicFramePr>
        <p:xfrm>
          <a:off x="1286919" y="1423522"/>
          <a:ext cx="6848414" cy="5070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4207">
                  <a:extLst>
                    <a:ext uri="{9D8B030D-6E8A-4147-A177-3AD203B41FA5}">
                      <a16:colId xmlns:a16="http://schemas.microsoft.com/office/drawing/2014/main" val="2447248943"/>
                    </a:ext>
                  </a:extLst>
                </a:gridCol>
                <a:gridCol w="3424207">
                  <a:extLst>
                    <a:ext uri="{9D8B030D-6E8A-4147-A177-3AD203B41FA5}">
                      <a16:colId xmlns:a16="http://schemas.microsoft.com/office/drawing/2014/main" val="678065629"/>
                    </a:ext>
                  </a:extLst>
                </a:gridCol>
              </a:tblGrid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Price(Rs.)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427815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 err="1"/>
                        <a:t>ph</a:t>
                      </a:r>
                      <a:r>
                        <a:rPr lang="en-US" dirty="0"/>
                        <a:t>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553267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sz="1400" b="0" dirty="0"/>
                        <a:t>DS18B20</a:t>
                      </a:r>
                      <a:r>
                        <a:rPr lang="en-US" sz="1400" b="1" dirty="0"/>
                        <a:t> </a:t>
                      </a:r>
                      <a:r>
                        <a:rPr lang="en-US" dirty="0"/>
                        <a:t>Temperature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331554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Analog TDS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2,900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066954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L298N  Motor Driver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248209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3D 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1664603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Resistors /Cables/LED/Breadboard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025210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ESP32 Development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4888894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Motors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466578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35431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602294"/>
                  </a:ext>
                </a:extLst>
              </a:tr>
              <a:tr h="422543">
                <a:tc>
                  <a:txBody>
                    <a:bodyPr/>
                    <a:lstStyle/>
                    <a:p>
                      <a:r>
                        <a:rPr lang="en-US" dirty="0"/>
                        <a:t>Fish Tank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591108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3CF96-2D6E-0A1A-3B59-2C938742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 2024/2025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DCF6C-7B6B-2EE7-4A75-6C4F6C3E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19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3BB7E-F6A2-520E-4FCF-676574E61081}"/>
              </a:ext>
            </a:extLst>
          </p:cNvPr>
          <p:cNvSpPr txBox="1"/>
          <p:nvPr/>
        </p:nvSpPr>
        <p:spPr>
          <a:xfrm>
            <a:off x="9045017" y="5259950"/>
            <a:ext cx="492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= RS. 22,500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8E4BC333-04E4-B326-55EA-4C221156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3801517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A2BA-AF1C-1787-8ADC-F8EBA9C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Time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3B1AE-AD36-DD0A-7740-10CD1A623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9CB7-7F3E-70A5-402D-F341E6CD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EA61-0FF1-77DC-49A5-34CF8E7A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20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3CD742-92D3-232D-746B-EB15F5046B37}"/>
              </a:ext>
            </a:extLst>
          </p:cNvPr>
          <p:cNvGrpSpPr/>
          <p:nvPr/>
        </p:nvGrpSpPr>
        <p:grpSpPr>
          <a:xfrm>
            <a:off x="0" y="1707755"/>
            <a:ext cx="12070084" cy="4452638"/>
            <a:chOff x="68001" y="1274064"/>
            <a:chExt cx="13255550" cy="5178848"/>
          </a:xfrm>
        </p:grpSpPr>
        <p:graphicFrame>
          <p:nvGraphicFramePr>
            <p:cNvPr id="19" name="Google Shape;133;p3"/>
            <p:cNvGraphicFramePr/>
            <p:nvPr>
              <p:extLst>
                <p:ext uri="{D42A27DB-BD31-4B8C-83A1-F6EECF244321}">
                  <p14:modId xmlns:p14="http://schemas.microsoft.com/office/powerpoint/2010/main" val="1459340596"/>
                </p:ext>
              </p:extLst>
            </p:nvPr>
          </p:nvGraphicFramePr>
          <p:xfrm>
            <a:off x="68001" y="1285452"/>
            <a:ext cx="7321715" cy="5165603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1111457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34793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857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532272">
                    <a:extLst>
                      <a:ext uri="{9D8B030D-6E8A-4147-A177-3AD203B41FA5}">
                        <a16:colId xmlns:a16="http://schemas.microsoft.com/office/drawing/2014/main" val="3682386833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455850">
                    <a:extLst>
                      <a:ext uri="{9D8B030D-6E8A-4147-A177-3AD203B41FA5}">
                        <a16:colId xmlns:a16="http://schemas.microsoft.com/office/drawing/2014/main" val="20012"/>
                      </a:ext>
                    </a:extLst>
                  </a:gridCol>
                </a:tblGrid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381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 gridSpan="2"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August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00B0F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gridSpan="2"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September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00B0F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gridSpan="2"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October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C00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gridSpan="2"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November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C00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gridSpan="4"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December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7030A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0" b="1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381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1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2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3</a:t>
                        </a:r>
                        <a:endParaRPr lang="en-US"/>
                      </a:p>
                    </a:txBody>
                    <a:tcPr marL="91450" marR="91450" marT="45725" marB="45725" anchor="ctr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4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1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2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3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4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1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2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3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4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900" b="1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Research and Analysis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`</a:t>
                        </a:r>
                        <a:endParaRPr/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50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System Design</a:t>
                        </a:r>
                        <a:endParaRPr sz="1100" dirty="0">
                          <a:latin typeface="Arial Black"/>
                          <a:ea typeface="Arial Black"/>
                          <a:cs typeface="Arial Black"/>
                          <a:sym typeface="Arial Black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Component Selection</a:t>
                        </a:r>
                        <a:endParaRPr sz="1000" dirty="0">
                          <a:latin typeface="Arial Black"/>
                          <a:ea typeface="Arial Black"/>
                          <a:cs typeface="Arial Black"/>
                          <a:sym typeface="Arial Black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System Development</a:t>
                        </a:r>
                        <a:endParaRPr sz="1000" dirty="0">
                          <a:latin typeface="Arial Black"/>
                          <a:ea typeface="Arial Black"/>
                          <a:cs typeface="Arial Black"/>
                          <a:sym typeface="Arial Black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Prototype Development</a:t>
                        </a:r>
                        <a:endParaRPr sz="1000" dirty="0">
                          <a:latin typeface="Arial Black"/>
                          <a:ea typeface="Arial Black"/>
                          <a:cs typeface="Arial Black"/>
                          <a:sym typeface="Arial Black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50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Testing</a:t>
                        </a:r>
                        <a:endParaRPr sz="1050" dirty="0">
                          <a:latin typeface="Arial Black"/>
                          <a:ea typeface="Arial Black"/>
                          <a:cs typeface="Arial Black"/>
                          <a:sym typeface="Arial Black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Implementation</a:t>
                        </a:r>
                        <a:endParaRPr sz="1000" dirty="0">
                          <a:latin typeface="Arial Black"/>
                          <a:ea typeface="Arial Black"/>
                          <a:cs typeface="Arial Black"/>
                          <a:sym typeface="Arial Black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444125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100" dirty="0">
                            <a:latin typeface="Arial Black"/>
                            <a:ea typeface="Arial Black"/>
                            <a:cs typeface="Arial Black"/>
                            <a:sym typeface="Arial Black"/>
                          </a:rPr>
                          <a:t>Evaluation</a:t>
                        </a:r>
                        <a:endParaRPr sz="1100" dirty="0">
                          <a:latin typeface="Arial Black"/>
                          <a:ea typeface="Arial Black"/>
                          <a:cs typeface="Arial Black"/>
                          <a:sym typeface="Arial Black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CCCCCC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endParaRPr lang="en-US" dirty="0"/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</a:tbl>
            </a:graphicData>
          </a:graphic>
        </p:graphicFrame>
        <p:graphicFrame>
          <p:nvGraphicFramePr>
            <p:cNvPr id="20" name="Google Shape;134;p3"/>
            <p:cNvGraphicFramePr/>
            <p:nvPr>
              <p:extLst>
                <p:ext uri="{D42A27DB-BD31-4B8C-83A1-F6EECF244321}">
                  <p14:modId xmlns:p14="http://schemas.microsoft.com/office/powerpoint/2010/main" val="970484517"/>
                </p:ext>
              </p:extLst>
            </p:nvPr>
          </p:nvGraphicFramePr>
          <p:xfrm>
            <a:off x="6808433" y="1274064"/>
            <a:ext cx="6515118" cy="5178848"/>
          </p:xfrm>
          <a:graphic>
            <a:graphicData uri="http://schemas.openxmlformats.org/drawingml/2006/table">
              <a:tbl>
                <a:tblPr firstRow="1" bandRow="1">
                  <a:noFill/>
                </a:tblPr>
                <a:tblGrid>
                  <a:gridCol w="463741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5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6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7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8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09"/>
                      </a:ext>
                    </a:extLst>
                  </a:gridCol>
                  <a:gridCol w="463741">
                    <a:extLst>
                      <a:ext uri="{9D8B030D-6E8A-4147-A177-3AD203B41FA5}">
                        <a16:colId xmlns:a16="http://schemas.microsoft.com/office/drawing/2014/main" val="20010"/>
                      </a:ext>
                    </a:extLst>
                  </a:gridCol>
                  <a:gridCol w="333465">
                    <a:extLst>
                      <a:ext uri="{9D8B030D-6E8A-4147-A177-3AD203B41FA5}">
                        <a16:colId xmlns:a16="http://schemas.microsoft.com/office/drawing/2014/main" val="20011"/>
                      </a:ext>
                    </a:extLst>
                  </a:gridCol>
                  <a:gridCol w="497844">
                    <a:extLst>
                      <a:ext uri="{9D8B030D-6E8A-4147-A177-3AD203B41FA5}">
                        <a16:colId xmlns:a16="http://schemas.microsoft.com/office/drawing/2014/main" val="2733918078"/>
                      </a:ext>
                    </a:extLst>
                  </a:gridCol>
                </a:tblGrid>
                <a:tr h="454577">
                  <a:tc gridSpan="4"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January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00B0F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gridSpan="4"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February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FC00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gridSpan="4"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March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7030A0"/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000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April</a:t>
                        </a:r>
                        <a:endParaRPr sz="10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 anchor="ctr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7030A0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430714"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1</a:t>
                        </a:r>
                        <a:endParaRPr sz="1000" b="1" dirty="0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2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3</a:t>
                        </a:r>
                        <a:endParaRPr sz="1000" b="1" dirty="0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4</a:t>
                        </a:r>
                        <a:endParaRPr sz="1000" b="1" dirty="0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1</a:t>
                        </a:r>
                        <a:endParaRPr sz="1000" b="1" dirty="0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2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3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4</a:t>
                        </a:r>
                        <a:endParaRPr sz="1000" b="1" dirty="0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1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2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3</a:t>
                        </a:r>
                        <a:endParaRPr sz="1000" b="1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600" b="1" dirty="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Week 4</a:t>
                        </a:r>
                        <a:endParaRPr sz="1000" b="1" dirty="0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000" b="1" dirty="0"/>
                      </a:p>
                    </a:txBody>
                    <a:tcPr marL="91450" marR="91450" marT="45725" marB="45725" anchor="ctr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44958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1800">
                            <a:latin typeface="Verdana"/>
                            <a:ea typeface="Verdana"/>
                            <a:cs typeface="Verdana"/>
                            <a:sym typeface="Verdana"/>
                          </a:rPr>
                          <a:t>`</a:t>
                        </a:r>
                        <a:endParaRPr/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440158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451382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44196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  <a:tr h="44577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6"/>
                    </a:ext>
                  </a:extLst>
                </a:tr>
                <a:tr h="43815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7"/>
                    </a:ext>
                  </a:extLst>
                </a:tr>
                <a:tr h="445770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8"/>
                    </a:ext>
                  </a:extLst>
                </a:tr>
                <a:tr h="454577"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1270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 dirty="0">
                          <a:latin typeface="Verdana"/>
                          <a:ea typeface="Verdana"/>
                          <a:cs typeface="Verdana"/>
                          <a:sym typeface="Verdana"/>
                        </a:endParaRPr>
                      </a:p>
                    </a:txBody>
                    <a:tcPr marL="91450" marR="91450" marT="45725" marB="45725">
                      <a:lnL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lt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9"/>
                    </a:ext>
                  </a:extLst>
                </a:tr>
              </a:tbl>
            </a:graphicData>
          </a:graphic>
        </p:graphicFrame>
      </p:grpSp>
      <p:sp>
        <p:nvSpPr>
          <p:cNvPr id="11" name="Google Shape;135;p3"/>
          <p:cNvSpPr/>
          <p:nvPr/>
        </p:nvSpPr>
        <p:spPr>
          <a:xfrm>
            <a:off x="1117600" y="2686859"/>
            <a:ext cx="875336" cy="239221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B050"/>
              </a:solidFill>
            </a:endParaRPr>
          </a:p>
        </p:txBody>
      </p:sp>
      <p:sp>
        <p:nvSpPr>
          <p:cNvPr id="12" name="Google Shape;136;p3"/>
          <p:cNvSpPr/>
          <p:nvPr/>
        </p:nvSpPr>
        <p:spPr>
          <a:xfrm>
            <a:off x="2047039" y="3143135"/>
            <a:ext cx="846530" cy="285865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13" name="Google Shape;137;p3"/>
          <p:cNvSpPr/>
          <p:nvPr/>
        </p:nvSpPr>
        <p:spPr>
          <a:xfrm>
            <a:off x="3056772" y="3563021"/>
            <a:ext cx="846531" cy="285865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38;p3"/>
          <p:cNvSpPr/>
          <p:nvPr/>
        </p:nvSpPr>
        <p:spPr>
          <a:xfrm>
            <a:off x="3903302" y="3988688"/>
            <a:ext cx="2234321" cy="285865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15" name="Google Shape;139;p3"/>
          <p:cNvSpPr/>
          <p:nvPr/>
        </p:nvSpPr>
        <p:spPr>
          <a:xfrm>
            <a:off x="6137625" y="4408120"/>
            <a:ext cx="899839" cy="305132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140;p3"/>
          <p:cNvSpPr/>
          <p:nvPr/>
        </p:nvSpPr>
        <p:spPr>
          <a:xfrm>
            <a:off x="7052165" y="4879687"/>
            <a:ext cx="1849078" cy="285865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" name="Google Shape;141;p3"/>
          <p:cNvSpPr/>
          <p:nvPr/>
        </p:nvSpPr>
        <p:spPr>
          <a:xfrm>
            <a:off x="8901243" y="5324911"/>
            <a:ext cx="1910367" cy="212290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142;p3"/>
          <p:cNvSpPr/>
          <p:nvPr/>
        </p:nvSpPr>
        <p:spPr>
          <a:xfrm>
            <a:off x="10820400" y="5731395"/>
            <a:ext cx="1249684" cy="250305"/>
          </a:xfrm>
          <a:prstGeom prst="homePlate">
            <a:avLst>
              <a:gd name="adj" fmla="val 50000"/>
            </a:avLst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BCEB29D2-FACF-E71A-1E09-608B99F4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3831223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A2BA-AF1C-1787-8ADC-F8EBA9C7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3B1AE-AD36-DD0A-7740-10CD1A623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08480"/>
            <a:ext cx="9601200" cy="504952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[1] A. Kumar and B. Singh, "IoT-Based Smart Aquarium: A Survey,"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IEEE Internet of Things Journal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vol. 8, no. 3, pp. 2504–2515, Mar. 2021.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[12] K. Patel et al., "Smart Aquaponics: Integrating IoT for Efficient Aquaculture,"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IEEE Internet of Things Magazine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vol. 4, no. 1, pp. 40–48, Mar. 2022.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[3] J. Smith et al., "Real-Time Water Quality Monitoring Using IoT,"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IEEE Sensors Journal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vol. 19, no. 5, pp. 1832–1840, Feb. 2022.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[4] L. Zhang and P. Chen, "IoT-Based Water Quality Analysis for Smart Aquaculture,"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IEEE Access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vol. 11, pp. 9052–9065, Mar. 2023.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[5] D. Kim and Y. Park, "Smart Aquarium Lighting Control with IoT and AI,"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IEEE Internet of Things Journal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vol. 9, no. 7, pp. 5750–5760, Nov. 2022.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9CB7-7F3E-70A5-402D-F341E6CD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EA61-0FF1-77DC-49A5-34CF8E7A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21</a:t>
            </a:fld>
            <a:endParaRPr lang="en-US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D4031E67-03B2-2EF8-0E23-B3BA56C8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16-May-25</a:t>
            </a:r>
          </a:p>
        </p:txBody>
      </p:sp>
    </p:spTree>
    <p:extLst>
      <p:ext uri="{BB962C8B-B14F-4D97-AF65-F5344CB8AC3E}">
        <p14:creationId xmlns:p14="http://schemas.microsoft.com/office/powerpoint/2010/main" val="4059592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4EE32-4638-DE7F-DD09-6F37B7B2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6050"/>
            <a:ext cx="9601200" cy="1485900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Thank You!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9E1C5-EE55-5E2D-102A-8EFFC57C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Individual Design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F560D-ECF5-0C3D-4781-F38E07932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ACFC-88C4-41F1-9CCA-CC7DE6A62343}" type="slidenum">
              <a:rPr lang="en-US" smtClean="0"/>
              <a:t>22</a:t>
            </a:fld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CDD54F7D-8718-2EC4-7398-F733A8D5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650" y="6453386"/>
            <a:ext cx="1204572" cy="404614"/>
          </a:xfrm>
        </p:spPr>
        <p:txBody>
          <a:bodyPr/>
          <a:lstStyle/>
          <a:p>
            <a:r>
              <a:rPr lang="en-US" dirty="0"/>
              <a:t>17-Jan-25</a:t>
            </a:r>
          </a:p>
        </p:txBody>
      </p:sp>
    </p:spTree>
    <p:extLst>
      <p:ext uri="{BB962C8B-B14F-4D97-AF65-F5344CB8AC3E}">
        <p14:creationId xmlns:p14="http://schemas.microsoft.com/office/powerpoint/2010/main" val="803489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E3F75180-FCAF-4ACF-BE89-6A6D5DC1FD74}" vid="{590F9D33-5B84-4F51-95A7-845353C61D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5620</TotalTime>
  <Words>1423</Words>
  <Application>Microsoft Office PowerPoint</Application>
  <PresentationFormat>Widescreen</PresentationFormat>
  <Paragraphs>288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Amazon Ember</vt:lpstr>
      <vt:lpstr>Arial</vt:lpstr>
      <vt:lpstr>Arial Black</vt:lpstr>
      <vt:lpstr>Calibri</vt:lpstr>
      <vt:lpstr>Century</vt:lpstr>
      <vt:lpstr>Franklin Gothic Book</vt:lpstr>
      <vt:lpstr>Roboto</vt:lpstr>
      <vt:lpstr>Times New Roman</vt:lpstr>
      <vt:lpstr>Verdana</vt:lpstr>
      <vt:lpstr>Theme1</vt:lpstr>
      <vt:lpstr> Smart aquarium with Maintenance and Monitoring through IoT Automation</vt:lpstr>
      <vt:lpstr>Content of the Presentation</vt:lpstr>
      <vt:lpstr>Problem Identification</vt:lpstr>
      <vt:lpstr>Objectives </vt:lpstr>
      <vt:lpstr>Literature Review</vt:lpstr>
      <vt:lpstr>PowerPoint Presentation</vt:lpstr>
      <vt:lpstr>Target Audience</vt:lpstr>
      <vt:lpstr>Market Survey</vt:lpstr>
      <vt:lpstr>Specifications</vt:lpstr>
      <vt:lpstr>System Design</vt:lpstr>
      <vt:lpstr>Components</vt:lpstr>
      <vt:lpstr>PowerPoint Presentation</vt:lpstr>
      <vt:lpstr>PowerPoint Presentation</vt:lpstr>
      <vt:lpstr>PowerPoint Presentation</vt:lpstr>
      <vt:lpstr>PowerPoint Presentation</vt:lpstr>
      <vt:lpstr>Results and Discussion</vt:lpstr>
      <vt:lpstr>Limitations</vt:lpstr>
      <vt:lpstr>Problems Encountered and Solutions</vt:lpstr>
      <vt:lpstr>Cost Estimation</vt:lpstr>
      <vt:lpstr>Time Plan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sanika wijayasekara</dc:creator>
  <cp:lastModifiedBy>BHMSHB Herath</cp:lastModifiedBy>
  <cp:revision>41</cp:revision>
  <dcterms:created xsi:type="dcterms:W3CDTF">2019-11-25T10:43:00Z</dcterms:created>
  <dcterms:modified xsi:type="dcterms:W3CDTF">2026-10-17T19:25:01Z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